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61" r:id="rId4"/>
    <p:sldId id="262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63A93-44EB-4DE4-9D8A-7B5790EF8432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8EAF4-4EE0-4EFB-858E-5C95745008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13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78EAF4-4EE0-4EFB-858E-5C95745008D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05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138E2-897E-E9D8-E154-A45C89FE4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9C477E-F82D-C09C-AADD-2839E12D9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7CC57-C453-78FC-2C40-A26EAD42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6A0FC1-472C-8A14-DD6C-94C7D686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FF2DF-4F2A-8097-2B22-402DBED7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30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9C277-2839-07D3-97FB-D03A9478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F6273D-360A-272C-8B89-57A6C413A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A62BB-B629-8B7B-3F91-013F5F71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F63832-917C-8A01-62D2-737FCD8B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83797-BA97-C07E-981F-08FD824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5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748CF-4B0B-B72C-FEE4-7530507E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CBD35F-82D9-0310-467E-3D2E2EAD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D46B2-1F4C-C52B-B3DB-7141AEE7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DF06AA-D904-1789-8D99-A93822C1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2E59F-6CBD-532E-A653-88B6AE75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95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1BA89-0C96-0901-BF40-09506E65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F3D40-E962-69F2-8DCE-08CB5D549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80B2B4-6A28-6F87-BA81-CD61D7EC0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8653F8-D3EE-F3E5-63C2-A9E4D3E1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1B123B-DCE3-FECC-D091-3E767DB2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EB2B9B-345C-F237-C749-3085450B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66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43E96-0C0B-937E-013E-5FC8B6B7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38A6D0-9838-D2A9-C95A-8F3C3A514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C9B6CB-F7F2-D989-43D4-2A895408F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9D85FD-709A-6134-5DB7-13CE26F96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7ACBD3-D482-BE68-0029-965F2FECE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6BDA75-0FA1-312E-CC0E-12D25BF45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9190F-EE6B-CC99-E707-3F31FF42D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57CD82-BC32-CCEF-92E1-F16B6411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83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1F25C-4B7F-C530-BF2B-C8B2AE69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A9F8C3-3EE8-0BDF-12B5-7045DDE7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3E1C7F-C6DF-862B-18FC-EEC20D1C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0ECDE9-D184-D7AF-A296-17BB46BD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415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E02C4A-DA91-2BBE-8807-5913A423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0872D3-AAD9-EFA5-9CD2-D0FB1D03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920D5-531A-E8FA-97D1-B46720A8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37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AA1EB-6362-630C-738B-185EE75C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D2BF1B-C4DE-8E50-43BE-5344CF6E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CE27A-01EB-A886-BA36-C808E9E36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D6D1C0-0524-2573-CA16-CADBEB55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9791E3-F484-1367-F032-6656C2B8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44840-0A9A-97CF-A834-CBC5FF6F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161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0DECF-B6F9-53EF-33EF-6701726D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683DB1-D4BD-4A33-23C3-ECD98D2E1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465824-82B5-71A5-5707-38A75107D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84AB4F-5FF7-2D51-F103-9C4C7162C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D63988-036C-86A3-FB16-3B912652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3F2260-30C4-286A-3555-5E576801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87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9C457-C881-239C-BC06-C1B31638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5433A0-7F26-BB64-701E-8940D048D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58A48-114F-7217-1E3F-A0B79611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A40B4-A53B-29A9-EED3-7444C21D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F57BC-4FA8-E212-CF5F-71F040DC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82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62F364-2900-FFA9-693A-9842075BD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C81F38-7AD3-6001-DFF6-8C63C8E9F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B0823-C36A-610E-E128-977BAA07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329EE9-2841-EB2C-226C-ACD96881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02B3-8B7F-7633-0A40-37F5C450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2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BD8FC1-8C07-BD3A-4DC6-BB185655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0BD5E6-D015-70C8-AB5B-F949C4BFC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D0B9DC-B994-D46C-C0FA-6A04FBF97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A76F5-5E34-4222-8791-A58344377E8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D407CF-0DAB-C099-F670-12065685B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09C215-AC57-9B43-A6D8-1CA905B3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38749-D7D6-424E-84F5-88BEE0F7B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76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C898D-119C-C6E2-293A-F4858443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F1E576D4-0954-C803-18FA-69254880EDA6}"/>
              </a:ext>
            </a:extLst>
          </p:cNvPr>
          <p:cNvSpPr/>
          <p:nvPr/>
        </p:nvSpPr>
        <p:spPr>
          <a:xfrm>
            <a:off x="4423639" y="4533323"/>
            <a:ext cx="1394691" cy="120072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0512E23B-D696-6E79-56E5-75485081FDF5}"/>
              </a:ext>
            </a:extLst>
          </p:cNvPr>
          <p:cNvSpPr/>
          <p:nvPr/>
        </p:nvSpPr>
        <p:spPr>
          <a:xfrm>
            <a:off x="3422072" y="2462645"/>
            <a:ext cx="2438400" cy="167409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Wallet Server</a:t>
            </a:r>
            <a:endParaRPr lang="ko-KR" altLang="en-US" dirty="0"/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AB4F5773-7FF6-652C-0E58-87C28618DA5F}"/>
              </a:ext>
            </a:extLst>
          </p:cNvPr>
          <p:cNvSpPr/>
          <p:nvPr/>
        </p:nvSpPr>
        <p:spPr>
          <a:xfrm>
            <a:off x="6904181" y="2462645"/>
            <a:ext cx="2438400" cy="167409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 Server</a:t>
            </a:r>
          </a:p>
          <a:p>
            <a:pPr algn="ctr"/>
            <a:r>
              <a:rPr lang="en-US" altLang="ko-KR" sz="1200" dirty="0"/>
              <a:t>- Web &amp; SDK -</a:t>
            </a:r>
            <a:endParaRPr lang="ko-KR" altLang="en-US" sz="12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252CE1C-FC09-8259-857D-5E1DBFCF7121}"/>
              </a:ext>
            </a:extLst>
          </p:cNvPr>
          <p:cNvCxnSpPr>
            <a:cxnSpLocks/>
            <a:stCxn id="6" idx="2"/>
            <a:endCxn id="4" idx="2"/>
          </p:cNvCxnSpPr>
          <p:nvPr/>
        </p:nvCxnSpPr>
        <p:spPr>
          <a:xfrm flipH="1">
            <a:off x="4423639" y="4136736"/>
            <a:ext cx="217633" cy="996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D2C08D3-9225-8DE6-DFDF-AC90DC642F11}"/>
              </a:ext>
            </a:extLst>
          </p:cNvPr>
          <p:cNvCxnSpPr>
            <a:cxnSpLocks/>
            <a:stCxn id="7" idx="2"/>
            <a:endCxn id="4" idx="4"/>
          </p:cNvCxnSpPr>
          <p:nvPr/>
        </p:nvCxnSpPr>
        <p:spPr>
          <a:xfrm flipH="1">
            <a:off x="5818330" y="4136736"/>
            <a:ext cx="2305051" cy="996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06ACB1D-8999-CCD4-2154-430123ECD55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860472" y="3299691"/>
            <a:ext cx="1043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1FAF6222-EF24-829A-B1BD-A15C14CDD760}"/>
              </a:ext>
            </a:extLst>
          </p:cNvPr>
          <p:cNvSpPr/>
          <p:nvPr/>
        </p:nvSpPr>
        <p:spPr>
          <a:xfrm>
            <a:off x="3221181" y="252846"/>
            <a:ext cx="2840182" cy="139468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BlockChain</a:t>
            </a:r>
            <a:endParaRPr lang="en-US" altLang="ko-KR" dirty="0"/>
          </a:p>
          <a:p>
            <a:pPr algn="ctr"/>
            <a:r>
              <a:rPr lang="en-US" altLang="ko-KR" sz="1100" dirty="0"/>
              <a:t>- ERC, TRX -</a:t>
            </a:r>
            <a:endParaRPr lang="ko-KR" altLang="en-US" sz="11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9785395-8420-9AD8-45C2-172C980BC7BE}"/>
              </a:ext>
            </a:extLst>
          </p:cNvPr>
          <p:cNvCxnSpPr>
            <a:cxnSpLocks/>
            <a:stCxn id="22" idx="2"/>
            <a:endCxn id="6" idx="0"/>
          </p:cNvCxnSpPr>
          <p:nvPr/>
        </p:nvCxnSpPr>
        <p:spPr>
          <a:xfrm>
            <a:off x="4641272" y="1647535"/>
            <a:ext cx="0" cy="815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순서도: 다중 문서 32">
            <a:extLst>
              <a:ext uri="{FF2B5EF4-FFF2-40B4-BE49-F238E27FC236}">
                <a16:creationId xmlns:a16="http://schemas.microsoft.com/office/drawing/2014/main" id="{C8BC0F19-BEB4-30D5-11DD-C2CD94358913}"/>
              </a:ext>
            </a:extLst>
          </p:cNvPr>
          <p:cNvSpPr/>
          <p:nvPr/>
        </p:nvSpPr>
        <p:spPr>
          <a:xfrm>
            <a:off x="378691" y="2661803"/>
            <a:ext cx="1570182" cy="127577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Wallet Pool</a:t>
            </a:r>
          </a:p>
          <a:p>
            <a:pPr algn="ctr"/>
            <a:r>
              <a:rPr lang="en-US" altLang="ko-KR" sz="1100" dirty="0"/>
              <a:t>- Redis -</a:t>
            </a:r>
            <a:endParaRPr lang="ko-KR" altLang="en-US" sz="11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BFA403B-7FEE-9906-60F0-B9A9495E5380}"/>
              </a:ext>
            </a:extLst>
          </p:cNvPr>
          <p:cNvCxnSpPr>
            <a:cxnSpLocks/>
            <a:stCxn id="33" idx="3"/>
            <a:endCxn id="6" idx="1"/>
          </p:cNvCxnSpPr>
          <p:nvPr/>
        </p:nvCxnSpPr>
        <p:spPr>
          <a:xfrm>
            <a:off x="1948873" y="3299690"/>
            <a:ext cx="147319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순서도: 직접 액세스 저장소 37">
            <a:extLst>
              <a:ext uri="{FF2B5EF4-FFF2-40B4-BE49-F238E27FC236}">
                <a16:creationId xmlns:a16="http://schemas.microsoft.com/office/drawing/2014/main" id="{CF7071C0-EA04-FC62-571A-E7C3E422B55D}"/>
              </a:ext>
            </a:extLst>
          </p:cNvPr>
          <p:cNvSpPr/>
          <p:nvPr/>
        </p:nvSpPr>
        <p:spPr>
          <a:xfrm>
            <a:off x="6904181" y="381575"/>
            <a:ext cx="3181928" cy="1108365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Kafka</a:t>
            </a:r>
            <a:endParaRPr lang="ko-KR" altLang="en-US" dirty="0"/>
          </a:p>
        </p:txBody>
      </p:sp>
      <p:sp>
        <p:nvSpPr>
          <p:cNvPr id="40" name="순서도: 지연 39">
            <a:extLst>
              <a:ext uri="{FF2B5EF4-FFF2-40B4-BE49-F238E27FC236}">
                <a16:creationId xmlns:a16="http://schemas.microsoft.com/office/drawing/2014/main" id="{DE5F7EDE-D766-8E3F-9639-D698EBE0E259}"/>
              </a:ext>
            </a:extLst>
          </p:cNvPr>
          <p:cNvSpPr/>
          <p:nvPr/>
        </p:nvSpPr>
        <p:spPr>
          <a:xfrm>
            <a:off x="9342581" y="2462645"/>
            <a:ext cx="1505528" cy="1674091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Status Manager</a:t>
            </a:r>
            <a:endParaRPr lang="ko-KR" altLang="en-US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31E949B-D66F-E6D4-3908-559745F3D666}"/>
              </a:ext>
            </a:extLst>
          </p:cNvPr>
          <p:cNvCxnSpPr/>
          <p:nvPr/>
        </p:nvCxnSpPr>
        <p:spPr>
          <a:xfrm flipV="1">
            <a:off x="5791200" y="1403927"/>
            <a:ext cx="1288472" cy="1058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09A7BEF-783E-D573-6B71-3FA4B44A6A80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8495145" y="1489940"/>
            <a:ext cx="1600200" cy="972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2D262EC-4A89-8689-9C59-28C1F104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339273" cy="711200"/>
          </a:xfrm>
        </p:spPr>
        <p:txBody>
          <a:bodyPr/>
          <a:lstStyle/>
          <a:p>
            <a:r>
              <a:rPr lang="ko-KR" altLang="en-US" b="1"/>
              <a:t>서버</a:t>
            </a:r>
            <a:endParaRPr lang="ko-KR" altLang="en-US" b="1" dirty="0"/>
          </a:p>
        </p:txBody>
      </p:sp>
      <p:sp>
        <p:nvSpPr>
          <p:cNvPr id="31" name="순서도: 대체 처리 30">
            <a:extLst>
              <a:ext uri="{FF2B5EF4-FFF2-40B4-BE49-F238E27FC236}">
                <a16:creationId xmlns:a16="http://schemas.microsoft.com/office/drawing/2014/main" id="{20B3A74C-97AA-0663-7BB7-D685F748B5F1}"/>
              </a:ext>
            </a:extLst>
          </p:cNvPr>
          <p:cNvSpPr/>
          <p:nvPr/>
        </p:nvSpPr>
        <p:spPr>
          <a:xfrm>
            <a:off x="6904181" y="5027527"/>
            <a:ext cx="2438400" cy="167409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Notification Server</a:t>
            </a:r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D61DEE7-5EB2-3606-B264-4E4D8FFE50E4}"/>
              </a:ext>
            </a:extLst>
          </p:cNvPr>
          <p:cNvGrpSpPr/>
          <p:nvPr/>
        </p:nvGrpSpPr>
        <p:grpSpPr>
          <a:xfrm>
            <a:off x="11277600" y="2719880"/>
            <a:ext cx="914400" cy="1159619"/>
            <a:chOff x="11277600" y="2842489"/>
            <a:chExt cx="914400" cy="1159619"/>
          </a:xfrm>
        </p:grpSpPr>
        <p:pic>
          <p:nvPicPr>
            <p:cNvPr id="48" name="그래픽 47" descr="사용자 단색으로 채워진">
              <a:extLst>
                <a:ext uri="{FF2B5EF4-FFF2-40B4-BE49-F238E27FC236}">
                  <a16:creationId xmlns:a16="http://schemas.microsoft.com/office/drawing/2014/main" id="{0BFD5C8B-E07A-869E-BDA6-0342C3B19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77600" y="2842489"/>
              <a:ext cx="914400" cy="9144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7E55D4-91D0-DB14-37A0-946F12EA349E}"/>
                </a:ext>
              </a:extLst>
            </p:cNvPr>
            <p:cNvSpPr txBox="1"/>
            <p:nvPr/>
          </p:nvSpPr>
          <p:spPr>
            <a:xfrm>
              <a:off x="11345109" y="3632776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Client</a:t>
              </a:r>
            </a:p>
          </p:txBody>
        </p:sp>
      </p:grp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6536D4E-581F-AD06-D77A-EB142F7DF8F2}"/>
              </a:ext>
            </a:extLst>
          </p:cNvPr>
          <p:cNvCxnSpPr>
            <a:cxnSpLocks/>
            <a:stCxn id="7" idx="2"/>
            <a:endCxn id="31" idx="0"/>
          </p:cNvCxnSpPr>
          <p:nvPr/>
        </p:nvCxnSpPr>
        <p:spPr>
          <a:xfrm>
            <a:off x="8123381" y="4136736"/>
            <a:ext cx="0" cy="8907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C387B27-82CB-5181-C6A3-56C418DD4D5D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>
            <a:off x="5860472" y="3299691"/>
            <a:ext cx="1043709" cy="25648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1D9CA40-8A58-488B-54AD-24920198F976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9342581" y="4249940"/>
            <a:ext cx="1935019" cy="1614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C690FAB0-073A-99C4-D826-4A1E096876D4}"/>
              </a:ext>
            </a:extLst>
          </p:cNvPr>
          <p:cNvSpPr/>
          <p:nvPr/>
        </p:nvSpPr>
        <p:spPr>
          <a:xfrm>
            <a:off x="766040" y="4533323"/>
            <a:ext cx="2438400" cy="167409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Key server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AF75592-A898-C380-9C47-F4CD55E9F97E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flipV="1">
            <a:off x="1985240" y="3299691"/>
            <a:ext cx="1436832" cy="12336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0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8E98-DED1-418D-AFCE-0E3ACE99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6523D-F949-FF42-823E-6461C85C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056120" cy="711200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서버 기본동작</a:t>
            </a:r>
            <a:r>
              <a:rPr lang="en-US" altLang="ko-KR" b="1" dirty="0"/>
              <a:t>(</a:t>
            </a:r>
            <a:r>
              <a:rPr lang="ko-KR" altLang="en-US" b="1" dirty="0"/>
              <a:t>송금</a:t>
            </a:r>
            <a:r>
              <a:rPr lang="en-US" altLang="ko-KR" b="1" dirty="0"/>
              <a:t>) </a:t>
            </a:r>
            <a:r>
              <a:rPr lang="ko-KR" altLang="en-US" b="1" dirty="0"/>
              <a:t>플로우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5E25799-32BF-AE5E-3F1C-F7054CD6814A}"/>
              </a:ext>
            </a:extLst>
          </p:cNvPr>
          <p:cNvCxnSpPr>
            <a:cxnSpLocks/>
          </p:cNvCxnSpPr>
          <p:nvPr/>
        </p:nvCxnSpPr>
        <p:spPr>
          <a:xfrm>
            <a:off x="5085773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55A8914-EF44-9C00-43F3-B93442D7FC12}"/>
              </a:ext>
            </a:extLst>
          </p:cNvPr>
          <p:cNvCxnSpPr>
            <a:cxnSpLocks/>
          </p:cNvCxnSpPr>
          <p:nvPr/>
        </p:nvCxnSpPr>
        <p:spPr>
          <a:xfrm>
            <a:off x="8026861" y="1457999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78D3439-7DEA-584B-3DD1-149A4C774035}"/>
              </a:ext>
            </a:extLst>
          </p:cNvPr>
          <p:cNvCxnSpPr>
            <a:cxnSpLocks/>
          </p:cNvCxnSpPr>
          <p:nvPr/>
        </p:nvCxnSpPr>
        <p:spPr>
          <a:xfrm>
            <a:off x="2240973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84008EA-9911-59CF-4B03-D6ABC468EB97}"/>
              </a:ext>
            </a:extLst>
          </p:cNvPr>
          <p:cNvCxnSpPr>
            <a:cxnSpLocks/>
          </p:cNvCxnSpPr>
          <p:nvPr/>
        </p:nvCxnSpPr>
        <p:spPr>
          <a:xfrm>
            <a:off x="10762441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D3B8C01-8388-57F1-AD5C-344C24952CB1}"/>
              </a:ext>
            </a:extLst>
          </p:cNvPr>
          <p:cNvCxnSpPr/>
          <p:nvPr/>
        </p:nvCxnSpPr>
        <p:spPr>
          <a:xfrm>
            <a:off x="0" y="145799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654B8C9-205C-ACD9-0BB8-38139FF4A360}"/>
              </a:ext>
            </a:extLst>
          </p:cNvPr>
          <p:cNvSpPr txBox="1"/>
          <p:nvPr/>
        </p:nvSpPr>
        <p:spPr>
          <a:xfrm>
            <a:off x="617220" y="1623060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B20D4E-B62D-D6D2-BC24-0590E91E57C3}"/>
              </a:ext>
            </a:extLst>
          </p:cNvPr>
          <p:cNvSpPr txBox="1"/>
          <p:nvPr/>
        </p:nvSpPr>
        <p:spPr>
          <a:xfrm>
            <a:off x="3265148" y="1623060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api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80C06B-4855-4B0B-3F39-051510F53FE9}"/>
              </a:ext>
            </a:extLst>
          </p:cNvPr>
          <p:cNvSpPr txBox="1"/>
          <p:nvPr/>
        </p:nvSpPr>
        <p:spPr>
          <a:xfrm>
            <a:off x="6250154" y="1623060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wallet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6AC071-14E3-271A-84FF-D01AC433EC34}"/>
              </a:ext>
            </a:extLst>
          </p:cNvPr>
          <p:cNvSpPr txBox="1"/>
          <p:nvPr/>
        </p:nvSpPr>
        <p:spPr>
          <a:xfrm>
            <a:off x="8714700" y="1623060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server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964C33E-7842-FD4B-022D-A19BB8B43245}"/>
              </a:ext>
            </a:extLst>
          </p:cNvPr>
          <p:cNvSpPr txBox="1"/>
          <p:nvPr/>
        </p:nvSpPr>
        <p:spPr>
          <a:xfrm>
            <a:off x="11247126" y="1623060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noti</a:t>
            </a:r>
            <a:endParaRPr lang="en-US" dirty="0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BCF49E7-06BB-728F-2D20-73F54ED3FC12}"/>
              </a:ext>
            </a:extLst>
          </p:cNvPr>
          <p:cNvCxnSpPr>
            <a:cxnSpLocks/>
            <a:endCxn id="87" idx="1"/>
          </p:cNvCxnSpPr>
          <p:nvPr/>
        </p:nvCxnSpPr>
        <p:spPr>
          <a:xfrm flipV="1">
            <a:off x="1694365" y="2499357"/>
            <a:ext cx="127668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72111F5-BCE8-CBFB-D8BF-CAFBC377ED37}"/>
              </a:ext>
            </a:extLst>
          </p:cNvPr>
          <p:cNvSpPr/>
          <p:nvPr/>
        </p:nvSpPr>
        <p:spPr>
          <a:xfrm>
            <a:off x="451313" y="2286002"/>
            <a:ext cx="1242059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출금요청</a:t>
            </a:r>
            <a:endParaRPr lang="en-US" sz="1200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8590CEB-8328-2988-6F28-B728F5731ED4}"/>
              </a:ext>
            </a:extLst>
          </p:cNvPr>
          <p:cNvSpPr/>
          <p:nvPr/>
        </p:nvSpPr>
        <p:spPr>
          <a:xfrm>
            <a:off x="2971053" y="2286002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지갑 송금요청</a:t>
            </a:r>
            <a:endParaRPr lang="en-US" sz="1200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AEA4F13-1110-74F5-D7E8-1709CD39F464}"/>
              </a:ext>
            </a:extLst>
          </p:cNvPr>
          <p:cNvSpPr/>
          <p:nvPr/>
        </p:nvSpPr>
        <p:spPr>
          <a:xfrm>
            <a:off x="5873289" y="2589836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핫월렛</a:t>
            </a:r>
            <a:r>
              <a:rPr lang="ko-KR" altLang="en-US" sz="1200" dirty="0"/>
              <a:t> 지갑 서명 요청</a:t>
            </a:r>
            <a:endParaRPr lang="en-US" sz="1200" dirty="0"/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69B6BC3-FA2D-0DA7-8261-F6E7E6FFDB90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>
            <a:off x="4412963" y="2499357"/>
            <a:ext cx="1460326" cy="30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F9EB0B4A-B980-6FE2-D6FC-1789EE7E6C6C}"/>
              </a:ext>
            </a:extLst>
          </p:cNvPr>
          <p:cNvCxnSpPr>
            <a:cxnSpLocks/>
            <a:stCxn id="92" idx="1"/>
            <a:endCxn id="100" idx="0"/>
          </p:cNvCxnSpPr>
          <p:nvPr/>
        </p:nvCxnSpPr>
        <p:spPr>
          <a:xfrm flipH="1">
            <a:off x="7307210" y="3826220"/>
            <a:ext cx="1358391" cy="575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EE04CE5-EFE4-E8EE-C37F-D5297C392CED}"/>
              </a:ext>
            </a:extLst>
          </p:cNvPr>
          <p:cNvSpPr/>
          <p:nvPr/>
        </p:nvSpPr>
        <p:spPr>
          <a:xfrm>
            <a:off x="8673696" y="3071840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핫월렛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키조회</a:t>
            </a:r>
            <a:endParaRPr lang="en-US" sz="1200" dirty="0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8B392B6-51D4-646D-0C33-BE868026B754}"/>
              </a:ext>
            </a:extLst>
          </p:cNvPr>
          <p:cNvSpPr/>
          <p:nvPr/>
        </p:nvSpPr>
        <p:spPr>
          <a:xfrm>
            <a:off x="8665601" y="3612865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개인키로 </a:t>
            </a:r>
            <a:r>
              <a:rPr lang="ko-KR" altLang="en-US" sz="1200" dirty="0" err="1"/>
              <a:t>시그니처</a:t>
            </a:r>
            <a:r>
              <a:rPr lang="ko-KR" altLang="en-US" sz="1200" dirty="0"/>
              <a:t> 서명</a:t>
            </a:r>
            <a:endParaRPr lang="en-US" sz="1200" dirty="0"/>
          </a:p>
        </p:txBody>
      </p:sp>
      <p:sp>
        <p:nvSpPr>
          <p:cNvPr id="95" name="원호 94">
            <a:extLst>
              <a:ext uri="{FF2B5EF4-FFF2-40B4-BE49-F238E27FC236}">
                <a16:creationId xmlns:a16="http://schemas.microsoft.com/office/drawing/2014/main" id="{A8AE73FA-E1CF-B4A8-194E-F128EC289E24}"/>
              </a:ext>
            </a:extLst>
          </p:cNvPr>
          <p:cNvSpPr/>
          <p:nvPr/>
        </p:nvSpPr>
        <p:spPr>
          <a:xfrm>
            <a:off x="9848431" y="3370613"/>
            <a:ext cx="518159" cy="584168"/>
          </a:xfrm>
          <a:prstGeom prst="arc">
            <a:avLst>
              <a:gd name="adj1" fmla="val 16200000"/>
              <a:gd name="adj2" fmla="val 75752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6F9AA23-C987-B8A3-0215-86C7FCF2C9C5}"/>
              </a:ext>
            </a:extLst>
          </p:cNvPr>
          <p:cNvSpPr/>
          <p:nvPr/>
        </p:nvSpPr>
        <p:spPr>
          <a:xfrm>
            <a:off x="5857681" y="4196096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블록체인 </a:t>
            </a:r>
            <a:r>
              <a:rPr lang="en-US" altLang="ko-KR" sz="1200" dirty="0" err="1"/>
              <a:t>rpc</a:t>
            </a:r>
            <a:r>
              <a:rPr lang="ko-KR" altLang="en-US" sz="1200" dirty="0"/>
              <a:t>노드에게 요청</a:t>
            </a:r>
            <a:endParaRPr lang="en-US" sz="1200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F6DFF39-31BD-E3AA-C7EF-0A5114972FEC}"/>
              </a:ext>
            </a:extLst>
          </p:cNvPr>
          <p:cNvSpPr/>
          <p:nvPr/>
        </p:nvSpPr>
        <p:spPr>
          <a:xfrm>
            <a:off x="5857681" y="5087643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성공 실패 </a:t>
            </a:r>
            <a:r>
              <a:rPr lang="ko-KR" altLang="en-US" sz="1200" dirty="0" err="1"/>
              <a:t>콜백</a:t>
            </a:r>
            <a:endParaRPr lang="en-US" sz="1200" dirty="0"/>
          </a:p>
        </p:txBody>
      </p:sp>
      <p:sp>
        <p:nvSpPr>
          <p:cNvPr id="100" name="원호 99">
            <a:extLst>
              <a:ext uri="{FF2B5EF4-FFF2-40B4-BE49-F238E27FC236}">
                <a16:creationId xmlns:a16="http://schemas.microsoft.com/office/drawing/2014/main" id="{838122DD-5CDE-0F11-65DF-E741C07CFE5E}"/>
              </a:ext>
            </a:extLst>
          </p:cNvPr>
          <p:cNvSpPr/>
          <p:nvPr/>
        </p:nvSpPr>
        <p:spPr>
          <a:xfrm>
            <a:off x="7048131" y="4401833"/>
            <a:ext cx="518159" cy="1352809"/>
          </a:xfrm>
          <a:prstGeom prst="arc">
            <a:avLst>
              <a:gd name="adj1" fmla="val 16200000"/>
              <a:gd name="adj2" fmla="val 75752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687D384-C564-C3F5-0116-6E496C45F3CE}"/>
              </a:ext>
            </a:extLst>
          </p:cNvPr>
          <p:cNvSpPr/>
          <p:nvPr/>
        </p:nvSpPr>
        <p:spPr>
          <a:xfrm>
            <a:off x="2952637" y="2867979"/>
            <a:ext cx="1441910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Account </a:t>
            </a:r>
            <a:r>
              <a:rPr lang="ko-KR" altLang="en-US" sz="1200" dirty="0"/>
              <a:t>기록</a:t>
            </a:r>
            <a:r>
              <a:rPr lang="en-US" altLang="ko-KR" sz="1200" dirty="0"/>
              <a:t>(</a:t>
            </a:r>
            <a:r>
              <a:rPr lang="ko-KR" altLang="en-US" sz="1200" dirty="0"/>
              <a:t>출금대기</a:t>
            </a:r>
            <a:r>
              <a:rPr lang="en-US" altLang="ko-KR" sz="1200" dirty="0"/>
              <a:t>)</a:t>
            </a:r>
            <a:endParaRPr lang="en-US" sz="1200" dirty="0"/>
          </a:p>
        </p:txBody>
      </p:sp>
      <p:sp>
        <p:nvSpPr>
          <p:cNvPr id="103" name="원호 102">
            <a:extLst>
              <a:ext uri="{FF2B5EF4-FFF2-40B4-BE49-F238E27FC236}">
                <a16:creationId xmlns:a16="http://schemas.microsoft.com/office/drawing/2014/main" id="{3877CF29-5CE1-73AF-3795-4E1C069E9094}"/>
              </a:ext>
            </a:extLst>
          </p:cNvPr>
          <p:cNvSpPr/>
          <p:nvPr/>
        </p:nvSpPr>
        <p:spPr>
          <a:xfrm>
            <a:off x="4094235" y="2493306"/>
            <a:ext cx="518159" cy="988018"/>
          </a:xfrm>
          <a:prstGeom prst="arc">
            <a:avLst>
              <a:gd name="adj1" fmla="val 16135014"/>
              <a:gd name="adj2" fmla="val 75752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EFB4D2C-D06C-88A8-2647-138306473E78}"/>
              </a:ext>
            </a:extLst>
          </p:cNvPr>
          <p:cNvCxnSpPr>
            <a:cxnSpLocks/>
            <a:stCxn id="88" idx="3"/>
            <a:endCxn id="91" idx="1"/>
          </p:cNvCxnSpPr>
          <p:nvPr/>
        </p:nvCxnSpPr>
        <p:spPr>
          <a:xfrm>
            <a:off x="7315199" y="2803191"/>
            <a:ext cx="1358497" cy="482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C95CAEC-DC20-33A9-D330-01771437FC94}"/>
              </a:ext>
            </a:extLst>
          </p:cNvPr>
          <p:cNvSpPr/>
          <p:nvPr/>
        </p:nvSpPr>
        <p:spPr>
          <a:xfrm>
            <a:off x="2870642" y="5608325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성공실패 알림</a:t>
            </a:r>
            <a:r>
              <a:rPr lang="en-US" altLang="ko-KR" sz="1200" dirty="0"/>
              <a:t>(AWUN_001)</a:t>
            </a:r>
            <a:endParaRPr lang="en-US" sz="1200" dirty="0"/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284C8D6D-06B4-9B54-1C15-01052E3FA83B}"/>
              </a:ext>
            </a:extLst>
          </p:cNvPr>
          <p:cNvCxnSpPr>
            <a:cxnSpLocks/>
            <a:stCxn id="99" idx="1"/>
            <a:endCxn id="107" idx="3"/>
          </p:cNvCxnSpPr>
          <p:nvPr/>
        </p:nvCxnSpPr>
        <p:spPr>
          <a:xfrm flipH="1">
            <a:off x="4312552" y="5300998"/>
            <a:ext cx="1545129" cy="520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0BAE324-4CFD-3883-3FA7-001844700FE7}"/>
              </a:ext>
            </a:extLst>
          </p:cNvPr>
          <p:cNvCxnSpPr>
            <a:cxnSpLocks/>
            <a:stCxn id="107" idx="3"/>
            <a:endCxn id="123" idx="1"/>
          </p:cNvCxnSpPr>
          <p:nvPr/>
        </p:nvCxnSpPr>
        <p:spPr>
          <a:xfrm>
            <a:off x="4312552" y="5821680"/>
            <a:ext cx="6566735" cy="426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671E2D8A-D5CE-8AAC-94AD-A3D4246B60F2}"/>
              </a:ext>
            </a:extLst>
          </p:cNvPr>
          <p:cNvSpPr/>
          <p:nvPr/>
        </p:nvSpPr>
        <p:spPr>
          <a:xfrm>
            <a:off x="10879287" y="6035035"/>
            <a:ext cx="1242059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출금 성공실패 알림 발송</a:t>
            </a:r>
            <a:endParaRPr lang="en-US" sz="1200" dirty="0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3916A1F1-BEE0-4309-3CA8-4F614FE5E771}"/>
              </a:ext>
            </a:extLst>
          </p:cNvPr>
          <p:cNvCxnSpPr>
            <a:cxnSpLocks/>
            <a:stCxn id="123" idx="1"/>
            <a:endCxn id="137" idx="3"/>
          </p:cNvCxnSpPr>
          <p:nvPr/>
        </p:nvCxnSpPr>
        <p:spPr>
          <a:xfrm flipH="1">
            <a:off x="1744887" y="6248393"/>
            <a:ext cx="9134400" cy="152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DB878A50-DE25-A1E9-0058-1FE7CF74120D}"/>
              </a:ext>
            </a:extLst>
          </p:cNvPr>
          <p:cNvSpPr/>
          <p:nvPr/>
        </p:nvSpPr>
        <p:spPr>
          <a:xfrm>
            <a:off x="502828" y="6187442"/>
            <a:ext cx="1242059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출금 결과 응답</a:t>
            </a:r>
            <a:endParaRPr lang="en-US" sz="1200" dirty="0"/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5D9C6703-2484-6178-3EA5-96A48C21576B}"/>
              </a:ext>
            </a:extLst>
          </p:cNvPr>
          <p:cNvCxnSpPr>
            <a:cxnSpLocks/>
            <a:stCxn id="102" idx="1"/>
            <a:endCxn id="142" idx="3"/>
          </p:cNvCxnSpPr>
          <p:nvPr/>
        </p:nvCxnSpPr>
        <p:spPr>
          <a:xfrm flipH="1" flipV="1">
            <a:off x="1679382" y="3071838"/>
            <a:ext cx="1273255" cy="9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694297F-9553-DE97-7485-D4AB8DC4EF4E}"/>
              </a:ext>
            </a:extLst>
          </p:cNvPr>
          <p:cNvSpPr/>
          <p:nvPr/>
        </p:nvSpPr>
        <p:spPr>
          <a:xfrm>
            <a:off x="437323" y="2858480"/>
            <a:ext cx="1242059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출금 신청 응답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829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9979-D1FF-AC53-D10B-12DB5E6F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C3270-B64C-9BC4-B878-DD058D2B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63840" cy="711200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서버 기본동작</a:t>
            </a:r>
            <a:r>
              <a:rPr lang="en-US" altLang="ko-KR" b="1" dirty="0"/>
              <a:t>(</a:t>
            </a:r>
            <a:r>
              <a:rPr lang="ko-KR" altLang="en-US" b="1" dirty="0"/>
              <a:t>입금대기</a:t>
            </a:r>
            <a:r>
              <a:rPr lang="en-US" altLang="ko-KR" b="1" dirty="0"/>
              <a:t>) </a:t>
            </a:r>
            <a:r>
              <a:rPr lang="ko-KR" altLang="en-US" b="1" dirty="0"/>
              <a:t>플로우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4108724-23EE-11E8-A2A9-A7397EF7ED97}"/>
              </a:ext>
            </a:extLst>
          </p:cNvPr>
          <p:cNvCxnSpPr>
            <a:cxnSpLocks/>
          </p:cNvCxnSpPr>
          <p:nvPr/>
        </p:nvCxnSpPr>
        <p:spPr>
          <a:xfrm>
            <a:off x="5085773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509FF54-C517-DE2E-E345-263A081114D1}"/>
              </a:ext>
            </a:extLst>
          </p:cNvPr>
          <p:cNvCxnSpPr>
            <a:cxnSpLocks/>
          </p:cNvCxnSpPr>
          <p:nvPr/>
        </p:nvCxnSpPr>
        <p:spPr>
          <a:xfrm>
            <a:off x="8026861" y="1457999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3DC25E9-0023-E331-6307-508C5FB881A3}"/>
              </a:ext>
            </a:extLst>
          </p:cNvPr>
          <p:cNvCxnSpPr>
            <a:cxnSpLocks/>
          </p:cNvCxnSpPr>
          <p:nvPr/>
        </p:nvCxnSpPr>
        <p:spPr>
          <a:xfrm>
            <a:off x="2240973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9FB9628-4C4A-7E15-25A7-58FEE3EBEABC}"/>
              </a:ext>
            </a:extLst>
          </p:cNvPr>
          <p:cNvCxnSpPr>
            <a:cxnSpLocks/>
          </p:cNvCxnSpPr>
          <p:nvPr/>
        </p:nvCxnSpPr>
        <p:spPr>
          <a:xfrm>
            <a:off x="10762441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F5420AD-EE65-BDCD-EC7B-7870D1E644FB}"/>
              </a:ext>
            </a:extLst>
          </p:cNvPr>
          <p:cNvCxnSpPr/>
          <p:nvPr/>
        </p:nvCxnSpPr>
        <p:spPr>
          <a:xfrm>
            <a:off x="0" y="145799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7EF3678-0C7C-4F74-528D-B01BC6CAE10E}"/>
              </a:ext>
            </a:extLst>
          </p:cNvPr>
          <p:cNvSpPr txBox="1"/>
          <p:nvPr/>
        </p:nvSpPr>
        <p:spPr>
          <a:xfrm>
            <a:off x="617220" y="1623060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9B70FE-0284-91B9-A0D0-16285E2B6FDD}"/>
              </a:ext>
            </a:extLst>
          </p:cNvPr>
          <p:cNvSpPr txBox="1"/>
          <p:nvPr/>
        </p:nvSpPr>
        <p:spPr>
          <a:xfrm>
            <a:off x="3265148" y="1623060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api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ED7CF6-0348-1B1C-3281-DC1EFC1D2D40}"/>
              </a:ext>
            </a:extLst>
          </p:cNvPr>
          <p:cNvSpPr txBox="1"/>
          <p:nvPr/>
        </p:nvSpPr>
        <p:spPr>
          <a:xfrm>
            <a:off x="6250154" y="1623060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wallet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9BA863-97A5-853E-EF52-3CFBE00B0FCA}"/>
              </a:ext>
            </a:extLst>
          </p:cNvPr>
          <p:cNvSpPr txBox="1"/>
          <p:nvPr/>
        </p:nvSpPr>
        <p:spPr>
          <a:xfrm>
            <a:off x="8714700" y="1623060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server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D42093-1528-8A30-3805-9469BBF50493}"/>
              </a:ext>
            </a:extLst>
          </p:cNvPr>
          <p:cNvSpPr txBox="1"/>
          <p:nvPr/>
        </p:nvSpPr>
        <p:spPr>
          <a:xfrm>
            <a:off x="11247126" y="1623060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noti</a:t>
            </a:r>
            <a:endParaRPr lang="en-US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CBEF725-C5E3-D0CE-EED5-5EC2B6EC6518}"/>
              </a:ext>
            </a:extLst>
          </p:cNvPr>
          <p:cNvSpPr/>
          <p:nvPr/>
        </p:nvSpPr>
        <p:spPr>
          <a:xfrm>
            <a:off x="5924499" y="2037667"/>
            <a:ext cx="1441910" cy="546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 </a:t>
            </a:r>
            <a:r>
              <a:rPr lang="ko-KR" altLang="en-US" sz="1200"/>
              <a:t>스캔</a:t>
            </a:r>
            <a:r>
              <a:rPr lang="en-US" altLang="ko-KR" sz="1200" dirty="0"/>
              <a:t> </a:t>
            </a:r>
            <a:r>
              <a:rPr lang="ko-KR" altLang="en-US" sz="1200" dirty="0"/>
              <a:t>감지 시 입금대기 메시지 발송</a:t>
            </a:r>
            <a:endParaRPr lang="en-US" sz="1200" dirty="0"/>
          </a:p>
        </p:txBody>
      </p:sp>
      <p:sp>
        <p:nvSpPr>
          <p:cNvPr id="3" name="원호 2">
            <a:extLst>
              <a:ext uri="{FF2B5EF4-FFF2-40B4-BE49-F238E27FC236}">
                <a16:creationId xmlns:a16="http://schemas.microsoft.com/office/drawing/2014/main" id="{A059F547-9855-C554-89CB-3629451221C7}"/>
              </a:ext>
            </a:extLst>
          </p:cNvPr>
          <p:cNvSpPr/>
          <p:nvPr/>
        </p:nvSpPr>
        <p:spPr>
          <a:xfrm>
            <a:off x="7098954" y="2370807"/>
            <a:ext cx="518159" cy="584168"/>
          </a:xfrm>
          <a:prstGeom prst="arc">
            <a:avLst>
              <a:gd name="adj1" fmla="val 16200000"/>
              <a:gd name="adj2" fmla="val 75752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806BBC-1E49-4FA9-8353-479829787AAE}"/>
              </a:ext>
            </a:extLst>
          </p:cNvPr>
          <p:cNvSpPr/>
          <p:nvPr/>
        </p:nvSpPr>
        <p:spPr>
          <a:xfrm>
            <a:off x="5924499" y="3355303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Wallet </a:t>
            </a:r>
            <a:r>
              <a:rPr lang="ko-KR" altLang="en-US" sz="1200" dirty="0"/>
              <a:t>히스토리 기록</a:t>
            </a:r>
            <a:endParaRPr 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80851-54D1-13C1-2D5F-23720CB2BB67}"/>
              </a:ext>
            </a:extLst>
          </p:cNvPr>
          <p:cNvSpPr/>
          <p:nvPr/>
        </p:nvSpPr>
        <p:spPr>
          <a:xfrm>
            <a:off x="5932861" y="2771135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블록컨펌개수</a:t>
            </a:r>
            <a:r>
              <a:rPr lang="ko-KR" altLang="en-US" sz="1200" dirty="0"/>
              <a:t> 기록</a:t>
            </a:r>
            <a:endParaRPr lang="en-US" sz="1200" dirty="0"/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D7157688-DEEB-A738-15E4-FF4ADA722A59}"/>
              </a:ext>
            </a:extLst>
          </p:cNvPr>
          <p:cNvSpPr/>
          <p:nvPr/>
        </p:nvSpPr>
        <p:spPr>
          <a:xfrm>
            <a:off x="7115691" y="3075988"/>
            <a:ext cx="518159" cy="584168"/>
          </a:xfrm>
          <a:prstGeom prst="arc">
            <a:avLst>
              <a:gd name="adj1" fmla="val 16200000"/>
              <a:gd name="adj2" fmla="val 75752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E2C620C-065E-94F0-EA0B-7914020B1A0A}"/>
              </a:ext>
            </a:extLst>
          </p:cNvPr>
          <p:cNvCxnSpPr>
            <a:cxnSpLocks/>
            <a:stCxn id="88" idx="1"/>
            <a:endCxn id="10" idx="3"/>
          </p:cNvCxnSpPr>
          <p:nvPr/>
        </p:nvCxnSpPr>
        <p:spPr>
          <a:xfrm flipH="1">
            <a:off x="4518129" y="2310915"/>
            <a:ext cx="1406370" cy="1007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09B76E-0D1E-7C55-AD8C-38DB42FB5538}"/>
              </a:ext>
            </a:extLst>
          </p:cNvPr>
          <p:cNvSpPr/>
          <p:nvPr/>
        </p:nvSpPr>
        <p:spPr>
          <a:xfrm>
            <a:off x="3076219" y="3105503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입금정보 </a:t>
            </a:r>
            <a:r>
              <a:rPr lang="en-US" altLang="ko-KR" sz="1200" dirty="0"/>
              <a:t>account</a:t>
            </a:r>
            <a:r>
              <a:rPr lang="ko-KR" altLang="en-US" sz="1200" dirty="0"/>
              <a:t>기록</a:t>
            </a:r>
            <a:endParaRPr lang="en-US" sz="12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60DD703-DC00-B5EF-6D97-350EA1C24C2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518129" y="3318858"/>
            <a:ext cx="6393711" cy="2256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BB8B5C-A5D5-06B2-D4A5-070DA33B1EE8}"/>
              </a:ext>
            </a:extLst>
          </p:cNvPr>
          <p:cNvSpPr/>
          <p:nvPr/>
        </p:nvSpPr>
        <p:spPr>
          <a:xfrm>
            <a:off x="10922010" y="5400001"/>
            <a:ext cx="1242059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 감지 알림 발송</a:t>
            </a:r>
            <a:endParaRPr lang="en-US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76C9977-1462-2E78-2901-8FEC3ED92BB4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1851660" y="5521014"/>
            <a:ext cx="9070350" cy="92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C0D498-D27C-A8E7-E4CC-D5EF8F49EB18}"/>
              </a:ext>
            </a:extLst>
          </p:cNvPr>
          <p:cNvSpPr/>
          <p:nvPr/>
        </p:nvSpPr>
        <p:spPr>
          <a:xfrm>
            <a:off x="294389" y="5307659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 정보 화면 </a:t>
            </a:r>
            <a:endParaRPr lang="en-US" altLang="ko-KR" sz="1200" dirty="0"/>
          </a:p>
          <a:p>
            <a:pPr algn="ctr"/>
            <a:r>
              <a:rPr lang="ko-KR" altLang="en-US" sz="1200" dirty="0"/>
              <a:t>표시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3474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C628-2E4A-928E-2B26-05F09E27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1D9F6-6A99-298A-C3BD-1ABB121D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63840" cy="711200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서버 기본동작</a:t>
            </a:r>
            <a:r>
              <a:rPr lang="en-US" altLang="ko-KR" b="1" dirty="0"/>
              <a:t>(</a:t>
            </a:r>
            <a:r>
              <a:rPr lang="ko-KR" altLang="en-US" b="1" dirty="0"/>
              <a:t>입금확정</a:t>
            </a:r>
            <a:r>
              <a:rPr lang="en-US" altLang="ko-KR" b="1" dirty="0"/>
              <a:t>) </a:t>
            </a:r>
            <a:r>
              <a:rPr lang="ko-KR" altLang="en-US" b="1" dirty="0"/>
              <a:t>플로우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C8DFE98-25D2-507C-7045-5AAA2B4C6FD8}"/>
              </a:ext>
            </a:extLst>
          </p:cNvPr>
          <p:cNvCxnSpPr>
            <a:cxnSpLocks/>
          </p:cNvCxnSpPr>
          <p:nvPr/>
        </p:nvCxnSpPr>
        <p:spPr>
          <a:xfrm>
            <a:off x="5085773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D4BA994-8220-1E3E-9B14-A4FF298378FE}"/>
              </a:ext>
            </a:extLst>
          </p:cNvPr>
          <p:cNvCxnSpPr>
            <a:cxnSpLocks/>
          </p:cNvCxnSpPr>
          <p:nvPr/>
        </p:nvCxnSpPr>
        <p:spPr>
          <a:xfrm>
            <a:off x="8026861" y="1457999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B8E7573-9296-4C9C-6675-038C9EA5785D}"/>
              </a:ext>
            </a:extLst>
          </p:cNvPr>
          <p:cNvCxnSpPr>
            <a:cxnSpLocks/>
          </p:cNvCxnSpPr>
          <p:nvPr/>
        </p:nvCxnSpPr>
        <p:spPr>
          <a:xfrm>
            <a:off x="2240973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636DCD5-01B1-E739-7991-2D0E58358F33}"/>
              </a:ext>
            </a:extLst>
          </p:cNvPr>
          <p:cNvCxnSpPr>
            <a:cxnSpLocks/>
          </p:cNvCxnSpPr>
          <p:nvPr/>
        </p:nvCxnSpPr>
        <p:spPr>
          <a:xfrm>
            <a:off x="10762441" y="1458000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C622429-44DE-BDF5-1A37-0E113B69148F}"/>
              </a:ext>
            </a:extLst>
          </p:cNvPr>
          <p:cNvCxnSpPr/>
          <p:nvPr/>
        </p:nvCxnSpPr>
        <p:spPr>
          <a:xfrm>
            <a:off x="0" y="145799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B2253633-CF8D-7E05-3DDE-E72A72E58986}"/>
              </a:ext>
            </a:extLst>
          </p:cNvPr>
          <p:cNvSpPr txBox="1"/>
          <p:nvPr/>
        </p:nvSpPr>
        <p:spPr>
          <a:xfrm>
            <a:off x="617220" y="1623060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E99C94-062C-E797-0E0B-2160C39B9468}"/>
              </a:ext>
            </a:extLst>
          </p:cNvPr>
          <p:cNvSpPr txBox="1"/>
          <p:nvPr/>
        </p:nvSpPr>
        <p:spPr>
          <a:xfrm>
            <a:off x="3265148" y="1623060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api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D2E6914-0AA1-8DE8-0214-58B782432769}"/>
              </a:ext>
            </a:extLst>
          </p:cNvPr>
          <p:cNvSpPr txBox="1"/>
          <p:nvPr/>
        </p:nvSpPr>
        <p:spPr>
          <a:xfrm>
            <a:off x="6250154" y="1623060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wallet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11359E-6FC6-1CA5-D034-C68E5447EF7B}"/>
              </a:ext>
            </a:extLst>
          </p:cNvPr>
          <p:cNvSpPr txBox="1"/>
          <p:nvPr/>
        </p:nvSpPr>
        <p:spPr>
          <a:xfrm>
            <a:off x="8714700" y="1623060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server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490AC3-4713-A1B7-A3DB-2EA200ED5CD4}"/>
              </a:ext>
            </a:extLst>
          </p:cNvPr>
          <p:cNvSpPr txBox="1"/>
          <p:nvPr/>
        </p:nvSpPr>
        <p:spPr>
          <a:xfrm>
            <a:off x="11247126" y="1623060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noti</a:t>
            </a:r>
            <a:endParaRPr lang="en-US" dirty="0"/>
          </a:p>
        </p:txBody>
      </p:sp>
      <p:sp>
        <p:nvSpPr>
          <p:cNvPr id="3" name="원호 2">
            <a:extLst>
              <a:ext uri="{FF2B5EF4-FFF2-40B4-BE49-F238E27FC236}">
                <a16:creationId xmlns:a16="http://schemas.microsoft.com/office/drawing/2014/main" id="{6853B2A0-AC8F-2C70-2179-179FFC79F600}"/>
              </a:ext>
            </a:extLst>
          </p:cNvPr>
          <p:cNvSpPr/>
          <p:nvPr/>
        </p:nvSpPr>
        <p:spPr>
          <a:xfrm>
            <a:off x="7098954" y="2370807"/>
            <a:ext cx="518159" cy="584168"/>
          </a:xfrm>
          <a:prstGeom prst="arc">
            <a:avLst>
              <a:gd name="adj1" fmla="val 16200000"/>
              <a:gd name="adj2" fmla="val 75752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E1C77E-9DF5-AEA5-0297-0925B2E515F8}"/>
              </a:ext>
            </a:extLst>
          </p:cNvPr>
          <p:cNvSpPr/>
          <p:nvPr/>
        </p:nvSpPr>
        <p:spPr>
          <a:xfrm>
            <a:off x="5924499" y="2763588"/>
            <a:ext cx="1441910" cy="571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컨펌개수 임곗값 달성시 완료 메시지 발송</a:t>
            </a:r>
            <a:endParaRPr lang="en-US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3BD3FD-B4F2-F0DC-C8B9-63FB7D3B94CB}"/>
              </a:ext>
            </a:extLst>
          </p:cNvPr>
          <p:cNvSpPr/>
          <p:nvPr/>
        </p:nvSpPr>
        <p:spPr>
          <a:xfrm>
            <a:off x="5916123" y="2183103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블록컨펌</a:t>
            </a:r>
            <a:r>
              <a:rPr lang="ko-KR" altLang="en-US" sz="1200" dirty="0"/>
              <a:t> 개수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확인</a:t>
            </a:r>
            <a:endParaRPr lang="en-US" sz="12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0112490-B089-17A3-E791-D64AB214B034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4518129" y="3015481"/>
            <a:ext cx="1449103" cy="30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9E78AB-A80A-E261-3483-2ECC9CBCC706}"/>
              </a:ext>
            </a:extLst>
          </p:cNvPr>
          <p:cNvSpPr/>
          <p:nvPr/>
        </p:nvSpPr>
        <p:spPr>
          <a:xfrm>
            <a:off x="3076219" y="3105503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 상태 업데이트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D7CCB2-FB5B-197C-5EA8-809904FD821F}"/>
              </a:ext>
            </a:extLst>
          </p:cNvPr>
          <p:cNvSpPr/>
          <p:nvPr/>
        </p:nvSpPr>
        <p:spPr>
          <a:xfrm>
            <a:off x="10922010" y="5400001"/>
            <a:ext cx="1242059" cy="426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 감지 알림 발송</a:t>
            </a:r>
            <a:endParaRPr lang="en-US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9648BDC-92BD-3D4B-3A96-FC68DFD075CE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1851660" y="5521014"/>
            <a:ext cx="9070350" cy="92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4E24AB-6BA1-28CB-A296-2FBB71ECCB0E}"/>
              </a:ext>
            </a:extLst>
          </p:cNvPr>
          <p:cNvSpPr/>
          <p:nvPr/>
        </p:nvSpPr>
        <p:spPr>
          <a:xfrm>
            <a:off x="294389" y="5307659"/>
            <a:ext cx="1441910" cy="426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입금 정보 화면 </a:t>
            </a:r>
            <a:endParaRPr lang="en-US" altLang="ko-KR" sz="1200" dirty="0"/>
          </a:p>
          <a:p>
            <a:pPr algn="ctr"/>
            <a:r>
              <a:rPr lang="ko-KR" altLang="en-US" sz="1200" dirty="0"/>
              <a:t>표시</a:t>
            </a:r>
            <a:endParaRPr lang="en-US" sz="12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274B885-7C07-9786-13CE-0A32BE6CFFB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4518129" y="3318858"/>
            <a:ext cx="6403881" cy="229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6883FC9-13D1-EF58-45C5-C28757868C6D}"/>
              </a:ext>
            </a:extLst>
          </p:cNvPr>
          <p:cNvSpPr/>
          <p:nvPr/>
        </p:nvSpPr>
        <p:spPr>
          <a:xfrm>
            <a:off x="7770835" y="2152617"/>
            <a:ext cx="2153973" cy="12636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블록컨펌개수는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스케쥴형태</a:t>
            </a:r>
            <a:r>
              <a:rPr lang="ko-KR" altLang="en-US" sz="1200" dirty="0"/>
              <a:t> 감지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170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57594-720E-11DF-E5EB-B020EC2A9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2" y="55419"/>
            <a:ext cx="1339273" cy="71120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SDK</a:t>
            </a:r>
            <a:endParaRPr lang="ko-KR" altLang="en-US" sz="40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CB9134-CC18-D6D6-A16A-230616F4603A}"/>
              </a:ext>
            </a:extLst>
          </p:cNvPr>
          <p:cNvSpPr/>
          <p:nvPr/>
        </p:nvSpPr>
        <p:spPr>
          <a:xfrm>
            <a:off x="2684320" y="1357745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주문 생성 요청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D5F0751-9969-601F-719A-CE8816974AEC}"/>
              </a:ext>
            </a:extLst>
          </p:cNvPr>
          <p:cNvCxnSpPr>
            <a:cxnSpLocks/>
          </p:cNvCxnSpPr>
          <p:nvPr/>
        </p:nvCxnSpPr>
        <p:spPr>
          <a:xfrm>
            <a:off x="4895273" y="64655"/>
            <a:ext cx="0" cy="6728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3F76934-0047-D109-E1E9-418626EA6AEB}"/>
              </a:ext>
            </a:extLst>
          </p:cNvPr>
          <p:cNvCxnSpPr>
            <a:cxnSpLocks/>
          </p:cNvCxnSpPr>
          <p:nvPr/>
        </p:nvCxnSpPr>
        <p:spPr>
          <a:xfrm>
            <a:off x="8682181" y="64655"/>
            <a:ext cx="0" cy="6728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AC24174-C35C-7C3C-06A7-E222026DC3E3}"/>
              </a:ext>
            </a:extLst>
          </p:cNvPr>
          <p:cNvSpPr/>
          <p:nvPr/>
        </p:nvSpPr>
        <p:spPr>
          <a:xfrm>
            <a:off x="5842000" y="1366982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TRX, ERC </a:t>
            </a:r>
            <a:r>
              <a:rPr lang="ko-KR" altLang="en-US" sz="1100" dirty="0"/>
              <a:t>지갑 할당 요청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1865890-4D8D-8192-F5B6-7B31162931E2}"/>
              </a:ext>
            </a:extLst>
          </p:cNvPr>
          <p:cNvSpPr txBox="1">
            <a:spLocks/>
          </p:cNvSpPr>
          <p:nvPr/>
        </p:nvSpPr>
        <p:spPr>
          <a:xfrm>
            <a:off x="6199908" y="0"/>
            <a:ext cx="1339273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API</a:t>
            </a:r>
            <a:endParaRPr lang="ko-KR" altLang="en-US" sz="4000" b="1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1EF380F-ABB1-85B8-8DB4-1E395C4A72D0}"/>
              </a:ext>
            </a:extLst>
          </p:cNvPr>
          <p:cNvSpPr txBox="1">
            <a:spLocks/>
          </p:cNvSpPr>
          <p:nvPr/>
        </p:nvSpPr>
        <p:spPr>
          <a:xfrm>
            <a:off x="9367980" y="0"/>
            <a:ext cx="1641765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WALLET</a:t>
            </a:r>
            <a:endParaRPr lang="ko-KR" altLang="en-US" sz="4000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4F0529-8E6C-0B0D-9DE4-7434F5B204B6}"/>
              </a:ext>
            </a:extLst>
          </p:cNvPr>
          <p:cNvSpPr/>
          <p:nvPr/>
        </p:nvSpPr>
        <p:spPr>
          <a:xfrm>
            <a:off x="9242135" y="1784927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IDLE</a:t>
            </a:r>
            <a:r>
              <a:rPr lang="ko-KR" altLang="en-US" sz="1200" dirty="0"/>
              <a:t> </a:t>
            </a:r>
            <a:r>
              <a:rPr lang="en-US" altLang="ko-KR" sz="1200" dirty="0"/>
              <a:t>Pool</a:t>
            </a:r>
            <a:r>
              <a:rPr lang="ko-KR" altLang="en-US" sz="1200" dirty="0"/>
              <a:t>에서 지갑 할당 후 감시 대상 지정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6C1CDEC-5F0E-B0AE-2DD5-9BA675A55C00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4577774" y="1639454"/>
            <a:ext cx="1264226" cy="923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1D94C0F-98CC-AA86-0263-EA30394C093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7735454" y="1648691"/>
            <a:ext cx="1506681" cy="4179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B9EA83-D768-9A7E-B086-8D81C2195458}"/>
              </a:ext>
            </a:extLst>
          </p:cNvPr>
          <p:cNvSpPr/>
          <p:nvPr/>
        </p:nvSpPr>
        <p:spPr>
          <a:xfrm>
            <a:off x="2684320" y="2302164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결제 페이지 노출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4B2F1C-9E08-F0C0-DD12-C5DB13E92D66}"/>
              </a:ext>
            </a:extLst>
          </p:cNvPr>
          <p:cNvSpPr/>
          <p:nvPr/>
        </p:nvSpPr>
        <p:spPr>
          <a:xfrm>
            <a:off x="5842000" y="2302164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할당된 지갑정보 포함하여 반환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4796F17-5B94-8C58-2EDE-ED1ADA784E6A}"/>
              </a:ext>
            </a:extLst>
          </p:cNvPr>
          <p:cNvCxnSpPr>
            <a:cxnSpLocks/>
            <a:stCxn id="15" idx="1"/>
            <a:endCxn id="22" idx="3"/>
          </p:cNvCxnSpPr>
          <p:nvPr/>
        </p:nvCxnSpPr>
        <p:spPr>
          <a:xfrm flipH="1">
            <a:off x="7735454" y="2066636"/>
            <a:ext cx="1506681" cy="51723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7F43CDD-347F-B427-B4CD-1DDA396239AD}"/>
              </a:ext>
            </a:extLst>
          </p:cNvPr>
          <p:cNvCxnSpPr>
            <a:cxnSpLocks/>
            <a:stCxn id="22" idx="1"/>
            <a:endCxn id="20" idx="3"/>
          </p:cNvCxnSpPr>
          <p:nvPr/>
        </p:nvCxnSpPr>
        <p:spPr>
          <a:xfrm flipH="1">
            <a:off x="4577774" y="2583873"/>
            <a:ext cx="126422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DCD8862-8CE0-9631-66C9-C09945B44CA8}"/>
              </a:ext>
            </a:extLst>
          </p:cNvPr>
          <p:cNvCxnSpPr>
            <a:cxnSpLocks/>
          </p:cNvCxnSpPr>
          <p:nvPr/>
        </p:nvCxnSpPr>
        <p:spPr>
          <a:xfrm>
            <a:off x="2050473" y="0"/>
            <a:ext cx="0" cy="6728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제목 1">
            <a:extLst>
              <a:ext uri="{FF2B5EF4-FFF2-40B4-BE49-F238E27FC236}">
                <a16:creationId xmlns:a16="http://schemas.microsoft.com/office/drawing/2014/main" id="{F0BAA261-435C-7ACC-4A8A-C8F18D8EFDDA}"/>
              </a:ext>
            </a:extLst>
          </p:cNvPr>
          <p:cNvSpPr txBox="1">
            <a:spLocks/>
          </p:cNvSpPr>
          <p:nvPr/>
        </p:nvSpPr>
        <p:spPr>
          <a:xfrm>
            <a:off x="221674" y="55419"/>
            <a:ext cx="1339273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Buyer</a:t>
            </a:r>
            <a:endParaRPr lang="ko-KR" altLang="en-US" sz="4000" b="1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92EAA73-4662-D945-BFA7-A1EFB742D748}"/>
              </a:ext>
            </a:extLst>
          </p:cNvPr>
          <p:cNvSpPr/>
          <p:nvPr/>
        </p:nvSpPr>
        <p:spPr>
          <a:xfrm>
            <a:off x="63502" y="1357745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결제창</a:t>
            </a:r>
            <a:r>
              <a:rPr lang="ko-KR" altLang="en-US" sz="1200" dirty="0"/>
              <a:t> 진입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28CB8E8-E8AC-7244-BB93-3A1D537225AC}"/>
              </a:ext>
            </a:extLst>
          </p:cNvPr>
          <p:cNvCxnSpPr>
            <a:cxnSpLocks/>
            <a:stCxn id="37" idx="3"/>
            <a:endCxn id="6" idx="1"/>
          </p:cNvCxnSpPr>
          <p:nvPr/>
        </p:nvCxnSpPr>
        <p:spPr>
          <a:xfrm>
            <a:off x="1956956" y="1639454"/>
            <a:ext cx="727364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ED95A5E-DBB4-31ED-8382-FF4A56FA04EA}"/>
              </a:ext>
            </a:extLst>
          </p:cNvPr>
          <p:cNvSpPr/>
          <p:nvPr/>
        </p:nvSpPr>
        <p:spPr>
          <a:xfrm>
            <a:off x="63502" y="3478646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결제 시도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1CC8D3E-57A2-39B6-832B-C0DBC90C807F}"/>
              </a:ext>
            </a:extLst>
          </p:cNvPr>
          <p:cNvCxnSpPr>
            <a:cxnSpLocks/>
            <a:stCxn id="20" idx="1"/>
            <a:endCxn id="47" idx="0"/>
          </p:cNvCxnSpPr>
          <p:nvPr/>
        </p:nvCxnSpPr>
        <p:spPr>
          <a:xfrm flipH="1">
            <a:off x="1010229" y="2583873"/>
            <a:ext cx="1674091" cy="89477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49B0C76-53F1-4578-F9EA-2C75EEB25E00}"/>
              </a:ext>
            </a:extLst>
          </p:cNvPr>
          <p:cNvSpPr/>
          <p:nvPr/>
        </p:nvSpPr>
        <p:spPr>
          <a:xfrm>
            <a:off x="2643911" y="3196937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지갑 결제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F199396-DF18-6B7E-1197-9F43C7684D4F}"/>
              </a:ext>
            </a:extLst>
          </p:cNvPr>
          <p:cNvSpPr/>
          <p:nvPr/>
        </p:nvSpPr>
        <p:spPr>
          <a:xfrm>
            <a:off x="2643911" y="3760354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직접 입금 결제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83CA29D-D31D-3329-2222-9A71E558EF75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 flipV="1">
            <a:off x="1956956" y="3478646"/>
            <a:ext cx="686955" cy="28170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77FBDB6-47FE-AF9E-E8E3-27BD201505CA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>
            <a:off x="1956956" y="3760355"/>
            <a:ext cx="686955" cy="28170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E93ECABF-A7B1-ECDD-C914-B811A3AA6763}"/>
              </a:ext>
            </a:extLst>
          </p:cNvPr>
          <p:cNvSpPr/>
          <p:nvPr/>
        </p:nvSpPr>
        <p:spPr>
          <a:xfrm>
            <a:off x="9242133" y="5222008"/>
            <a:ext cx="946725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완료처리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5E16468-96F5-BE69-F5BB-31885746232E}"/>
              </a:ext>
            </a:extLst>
          </p:cNvPr>
          <p:cNvSpPr/>
          <p:nvPr/>
        </p:nvSpPr>
        <p:spPr>
          <a:xfrm>
            <a:off x="9242135" y="3478646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감시 지갑에 입금 확인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4CB0BAF8-4765-83FC-127F-F8FB63318525}"/>
              </a:ext>
            </a:extLst>
          </p:cNvPr>
          <p:cNvCxnSpPr>
            <a:cxnSpLocks/>
            <a:stCxn id="53" idx="3"/>
            <a:endCxn id="69" idx="1"/>
          </p:cNvCxnSpPr>
          <p:nvPr/>
        </p:nvCxnSpPr>
        <p:spPr>
          <a:xfrm>
            <a:off x="4537365" y="3478646"/>
            <a:ext cx="4704770" cy="28170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9FC1EB0-1E35-5EBB-A037-9B5556464CE5}"/>
              </a:ext>
            </a:extLst>
          </p:cNvPr>
          <p:cNvCxnSpPr>
            <a:cxnSpLocks/>
            <a:stCxn id="54" idx="3"/>
            <a:endCxn id="69" idx="1"/>
          </p:cNvCxnSpPr>
          <p:nvPr/>
        </p:nvCxnSpPr>
        <p:spPr>
          <a:xfrm flipV="1">
            <a:off x="4537365" y="3760355"/>
            <a:ext cx="4704770" cy="28170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FF7F485-2E8A-4BA9-1AD2-F59E510F5F75}"/>
              </a:ext>
            </a:extLst>
          </p:cNvPr>
          <p:cNvCxnSpPr>
            <a:cxnSpLocks/>
            <a:stCxn id="69" idx="2"/>
            <a:endCxn id="65" idx="0"/>
          </p:cNvCxnSpPr>
          <p:nvPr/>
        </p:nvCxnSpPr>
        <p:spPr>
          <a:xfrm flipH="1">
            <a:off x="9715496" y="4042064"/>
            <a:ext cx="473366" cy="117994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BDD9B903-87DD-E219-D361-18F20FBA60A2}"/>
              </a:ext>
            </a:extLst>
          </p:cNvPr>
          <p:cNvSpPr/>
          <p:nvPr/>
        </p:nvSpPr>
        <p:spPr>
          <a:xfrm>
            <a:off x="2643911" y="5135995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완료 또는 취소 처리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31D1989-9513-CE36-CA19-CACF0F54D568}"/>
              </a:ext>
            </a:extLst>
          </p:cNvPr>
          <p:cNvCxnSpPr>
            <a:cxnSpLocks/>
            <a:stCxn id="69" idx="2"/>
            <a:endCxn id="96" idx="3"/>
          </p:cNvCxnSpPr>
          <p:nvPr/>
        </p:nvCxnSpPr>
        <p:spPr>
          <a:xfrm flipH="1">
            <a:off x="4537365" y="4042064"/>
            <a:ext cx="5651497" cy="137564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53885567-55E7-690C-13EA-DB8322401CD5}"/>
              </a:ext>
            </a:extLst>
          </p:cNvPr>
          <p:cNvSpPr/>
          <p:nvPr/>
        </p:nvSpPr>
        <p:spPr>
          <a:xfrm>
            <a:off x="10188864" y="5222008"/>
            <a:ext cx="946725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환불처리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F150FA8C-0161-5C99-3780-942BD30CBA6C}"/>
              </a:ext>
            </a:extLst>
          </p:cNvPr>
          <p:cNvCxnSpPr>
            <a:cxnSpLocks/>
            <a:stCxn id="69" idx="2"/>
            <a:endCxn id="110" idx="0"/>
          </p:cNvCxnSpPr>
          <p:nvPr/>
        </p:nvCxnSpPr>
        <p:spPr>
          <a:xfrm>
            <a:off x="10188862" y="4042064"/>
            <a:ext cx="473365" cy="117994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96A4081F-AABC-7580-DEF0-9474448406FC}"/>
              </a:ext>
            </a:extLst>
          </p:cNvPr>
          <p:cNvSpPr/>
          <p:nvPr/>
        </p:nvSpPr>
        <p:spPr>
          <a:xfrm>
            <a:off x="63502" y="5135995"/>
            <a:ext cx="1893454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결과창</a:t>
            </a:r>
            <a:r>
              <a:rPr lang="ko-KR" altLang="en-US" sz="1200" dirty="0"/>
              <a:t> 반환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78BDE8F5-4929-DD99-3638-46692F69F2D8}"/>
              </a:ext>
            </a:extLst>
          </p:cNvPr>
          <p:cNvCxnSpPr>
            <a:cxnSpLocks/>
            <a:stCxn id="96" idx="1"/>
            <a:endCxn id="115" idx="3"/>
          </p:cNvCxnSpPr>
          <p:nvPr/>
        </p:nvCxnSpPr>
        <p:spPr>
          <a:xfrm flipH="1">
            <a:off x="1956956" y="5417704"/>
            <a:ext cx="686955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38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2996</TotalTime>
  <Words>204</Words>
  <Application>Microsoft Office PowerPoint</Application>
  <PresentationFormat>와이드스크린</PresentationFormat>
  <Paragraphs>78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서버</vt:lpstr>
      <vt:lpstr>서버 기본동작(송금) 플로우</vt:lpstr>
      <vt:lpstr>서버 기본동작(입금대기) 플로우</vt:lpstr>
      <vt:lpstr>서버 기본동작(입금확정) 플로우</vt:lpstr>
      <vt:lpstr>SDK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이저소프트 가</dc:creator>
  <cp:lastModifiedBy>원 이</cp:lastModifiedBy>
  <cp:revision>12</cp:revision>
  <dcterms:created xsi:type="dcterms:W3CDTF">2025-10-28T07:29:13Z</dcterms:created>
  <dcterms:modified xsi:type="dcterms:W3CDTF">2025-11-20T09:08:50Z</dcterms:modified>
</cp:coreProperties>
</file>