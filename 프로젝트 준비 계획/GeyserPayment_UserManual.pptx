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002060"/>
    <a:srgbClr val="4472C4"/>
    <a:srgbClr val="001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08"/>
      </p:cViewPr>
      <p:guideLst>
        <p:guide orient="horz" pos="2160"/>
        <p:guide pos="288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72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6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CBA9B5F-B58B-7F16-361F-BA4D967546DB}"/>
              </a:ext>
            </a:extLst>
          </p:cNvPr>
          <p:cNvSpPr/>
          <p:nvPr userDrawn="1"/>
        </p:nvSpPr>
        <p:spPr>
          <a:xfrm>
            <a:off x="1" y="6473953"/>
            <a:ext cx="12188952" cy="384048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16AEE8ED-F9E8-023D-4FB7-DC995351A66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4470" y="6550561"/>
            <a:ext cx="1550423" cy="230832"/>
          </a:xfrm>
          <a:prstGeom prst="rect">
            <a:avLst/>
          </a:prstGeom>
        </p:spPr>
        <p:txBody>
          <a:bodyPr/>
          <a:lstStyle>
            <a:lvl1pPr marL="342906" marR="0" indent="-342906" algn="l" defTabSz="4572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bg1"/>
                </a:solidFill>
              </a:defRPr>
            </a:lvl1pPr>
          </a:lstStyle>
          <a:p>
            <a:pPr marL="342906" marR="0" lvl="0" indent="-342906" algn="l" defTabSz="4572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test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4BE3902-6AC2-8688-2188-79B7185498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27983" y="6569005"/>
            <a:ext cx="637854" cy="193944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ko-KR" altLang="en-US" dirty="0"/>
              <a:t>페이지</a:t>
            </a:r>
            <a:r>
              <a:rPr lang="en-US" altLang="ko-KR" dirty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0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>
            <a:extLst>
              <a:ext uri="{FF2B5EF4-FFF2-40B4-BE49-F238E27FC236}">
                <a16:creationId xmlns:a16="http://schemas.microsoft.com/office/drawing/2014/main" id="{58D5F2B3-186D-CBCA-FC13-E098D6146108}"/>
              </a:ext>
            </a:extLst>
          </p:cNvPr>
          <p:cNvSpPr/>
          <p:nvPr userDrawn="1"/>
        </p:nvSpPr>
        <p:spPr>
          <a:xfrm>
            <a:off x="1" y="0"/>
            <a:ext cx="12188952" cy="77724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D186DFF5-BCCD-6197-F2A9-8BE2919902BA}"/>
              </a:ext>
            </a:extLst>
          </p:cNvPr>
          <p:cNvSpPr/>
          <p:nvPr userDrawn="1"/>
        </p:nvSpPr>
        <p:spPr>
          <a:xfrm>
            <a:off x="2" y="0"/>
            <a:ext cx="109727" cy="777240"/>
          </a:xfrm>
          <a:prstGeom prst="rect">
            <a:avLst/>
          </a:prstGeom>
          <a:solidFill>
            <a:srgbClr val="ED7D3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E99D0FAC-6C0F-5FF3-CC5D-F5EED1F3BD44}"/>
              </a:ext>
            </a:extLst>
          </p:cNvPr>
          <p:cNvSpPr/>
          <p:nvPr userDrawn="1"/>
        </p:nvSpPr>
        <p:spPr>
          <a:xfrm>
            <a:off x="1" y="6473953"/>
            <a:ext cx="12188952" cy="384048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내용 개체 틀 5">
            <a:extLst>
              <a:ext uri="{FF2B5EF4-FFF2-40B4-BE49-F238E27FC236}">
                <a16:creationId xmlns:a16="http://schemas.microsoft.com/office/drawing/2014/main" id="{457DE254-587E-6AED-8273-535DA446539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4470" y="6550561"/>
            <a:ext cx="1550423" cy="230832"/>
          </a:xfrm>
          <a:prstGeom prst="rect">
            <a:avLst/>
          </a:prstGeom>
        </p:spPr>
        <p:txBody>
          <a:bodyPr/>
          <a:lstStyle>
            <a:lvl1pPr marL="342906" marR="0" indent="-342906" algn="l" defTabSz="4572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bg1"/>
                </a:solidFill>
              </a:defRPr>
            </a:lvl1pPr>
          </a:lstStyle>
          <a:p>
            <a:pPr marL="342906" marR="0" lvl="0" indent="-342906" algn="l" defTabSz="4572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test</a:t>
            </a:r>
          </a:p>
        </p:txBody>
      </p:sp>
      <p:sp>
        <p:nvSpPr>
          <p:cNvPr id="36" name="내용 개체 틀 34">
            <a:extLst>
              <a:ext uri="{FF2B5EF4-FFF2-40B4-BE49-F238E27FC236}">
                <a16:creationId xmlns:a16="http://schemas.microsoft.com/office/drawing/2014/main" id="{D93E1A43-DEBF-9AE1-2DA7-07CB80C747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8601" y="91440"/>
            <a:ext cx="8730128" cy="384048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en-US" dirty="0"/>
          </a:p>
        </p:txBody>
      </p:sp>
      <p:sp>
        <p:nvSpPr>
          <p:cNvPr id="38" name="내용 개체 틀 37">
            <a:extLst>
              <a:ext uri="{FF2B5EF4-FFF2-40B4-BE49-F238E27FC236}">
                <a16:creationId xmlns:a16="http://schemas.microsoft.com/office/drawing/2014/main" id="{77956D5F-1DF2-F23B-5F17-69142DBA81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28601" y="502322"/>
            <a:ext cx="6722782" cy="274918"/>
          </a:xfrm>
          <a:prstGeom prst="rect">
            <a:avLst/>
          </a:prstGeom>
        </p:spPr>
        <p:txBody>
          <a:bodyPr/>
          <a:lstStyle>
            <a:lvl1pPr>
              <a:buNone/>
              <a:defRPr sz="1300">
                <a:solidFill>
                  <a:schemeClr val="bg1"/>
                </a:solidFill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 dirty="0"/>
              <a:t>Sub title</a:t>
            </a:r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6A192E0-0FDD-757C-FEFE-747483B2C4D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27983" y="6569005"/>
            <a:ext cx="637854" cy="193944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ko-KR" altLang="en-US" dirty="0"/>
              <a:t>페이지</a:t>
            </a:r>
            <a:r>
              <a:rPr lang="en-US" altLang="ko-KR" dirty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F10D330-F9A1-0A5B-8DF6-FB349196A1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551" y="5965798"/>
            <a:ext cx="922107" cy="32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6" indent="-342906" algn="l" defTabSz="457207" rtl="0" eaLnBrk="1" latinLnBrk="0" hangingPunct="1">
        <a:spcBef>
          <a:spcPct val="20000"/>
        </a:spcBef>
        <a:buFont typeface="Arial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0" indent="-228604" algn="l" defTabSz="457207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2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7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979612" y="1645920"/>
            <a:ext cx="8229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 err="1">
                <a:latin typeface="Pretendard" panose="02000503000000020004" pitchFamily="50" charset="-127"/>
              </a:rPr>
              <a:t>Geysersoft</a:t>
            </a:r>
            <a:r>
              <a:rPr lang="en-US" sz="4400" b="1" dirty="0">
                <a:solidFill>
                  <a:schemeClr val="accent1"/>
                </a:solidFill>
                <a:latin typeface="Pretendard" panose="02000503000000020004" pitchFamily="50" charset="-127"/>
              </a:rPr>
              <a:t> </a:t>
            </a:r>
          </a:p>
          <a:p>
            <a:pPr algn="ctr"/>
            <a:r>
              <a:rPr lang="en-US" sz="4400" b="1" dirty="0">
                <a:solidFill>
                  <a:srgbClr val="001040"/>
                </a:solidFill>
                <a:latin typeface="Pretendard" panose="02000503000000020004" pitchFamily="50" charset="-127"/>
              </a:rPr>
              <a:t>Blockchain </a:t>
            </a:r>
            <a:r>
              <a:rPr sz="4400" b="1" dirty="0">
                <a:solidFill>
                  <a:srgbClr val="001040"/>
                </a:solidFill>
                <a:latin typeface="Pretendard" panose="02000503000000020004" pitchFamily="50" charset="-127"/>
              </a:rPr>
              <a:t>Payment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4886" y="3945986"/>
            <a:ext cx="6999053" cy="492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1" dirty="0" err="1">
                <a:solidFill>
                  <a:schemeClr val="accent1"/>
                </a:solidFill>
                <a:latin typeface="Pretendard" panose="02000503000000020004" pitchFamily="50" charset="-127"/>
              </a:rPr>
              <a:t>사용자</a:t>
            </a:r>
            <a:r>
              <a:rPr lang="en-US" sz="2601" dirty="0">
                <a:solidFill>
                  <a:schemeClr val="accent1"/>
                </a:solidFill>
                <a:latin typeface="Pretendard" panose="02000503000000020004" pitchFamily="50" charset="-127"/>
              </a:rPr>
              <a:t> </a:t>
            </a:r>
            <a:r>
              <a:rPr lang="ko-KR" altLang="en-US" sz="2601" dirty="0">
                <a:solidFill>
                  <a:schemeClr val="accent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고객</a:t>
            </a:r>
            <a:r>
              <a:rPr sz="2601" dirty="0">
                <a:solidFill>
                  <a:schemeClr val="accent1"/>
                </a:solidFill>
                <a:latin typeface="Pretendard" panose="02000503000000020004" pitchFamily="50" charset="-127"/>
              </a:rPr>
              <a:t> </a:t>
            </a:r>
            <a:r>
              <a:rPr sz="2601" dirty="0" err="1">
                <a:solidFill>
                  <a:schemeClr val="accent1"/>
                </a:solidFill>
                <a:latin typeface="Pretendard" panose="02000503000000020004" pitchFamily="50" charset="-127"/>
              </a:rPr>
              <a:t>매뉴얼</a:t>
            </a:r>
            <a:r>
              <a:rPr sz="2601" dirty="0">
                <a:solidFill>
                  <a:schemeClr val="accent1"/>
                </a:solidFill>
                <a:latin typeface="Pretendard" panose="02000503000000020004" pitchFamily="50" charset="-127"/>
              </a:rPr>
              <a:t>  |  User </a:t>
            </a:r>
            <a:r>
              <a:rPr lang="en-US" sz="2601" dirty="0">
                <a:solidFill>
                  <a:schemeClr val="accent1"/>
                </a:solidFill>
                <a:latin typeface="Pretendard" panose="02000503000000020004" pitchFamily="50" charset="-127"/>
              </a:rPr>
              <a:t>customer </a:t>
            </a:r>
            <a:r>
              <a:rPr sz="2601" dirty="0">
                <a:solidFill>
                  <a:schemeClr val="accent1"/>
                </a:solidFill>
                <a:latin typeface="Pretendard" panose="02000503000000020004" pitchFamily="50" charset="-127"/>
              </a:rPr>
              <a:t>Manual</a:t>
            </a:r>
          </a:p>
        </p:txBody>
      </p:sp>
      <p:cxnSp>
        <p:nvCxnSpPr>
          <p:cNvPr id="21" name="Connector 7"/>
          <p:cNvCxnSpPr>
            <a:cxnSpLocks/>
          </p:cNvCxnSpPr>
          <p:nvPr/>
        </p:nvCxnSpPr>
        <p:spPr>
          <a:xfrm>
            <a:off x="1593851" y="3703321"/>
            <a:ext cx="868680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68BFE805-680F-CD57-D623-B586DC8576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4470" y="6550561"/>
            <a:ext cx="4038130" cy="230832"/>
          </a:xfrm>
        </p:spPr>
        <p:txBody>
          <a:bodyPr/>
          <a:lstStyle/>
          <a:p>
            <a:r>
              <a:rPr lang="ko-KR" altLang="en-US" dirty="0">
                <a:ea typeface="Pretendard" panose="02000503000000020004" pitchFamily="50" charset="-127"/>
              </a:rPr>
              <a:t>본자료는 블록체인 기반  사용법을 계략적으로 소개하기 위한 내부 자료입니다</a:t>
            </a:r>
            <a:r>
              <a:rPr lang="en-US" altLang="ko-KR" dirty="0">
                <a:ea typeface="Pretendard" panose="02000503000000020004" pitchFamily="50" charset="-127"/>
              </a:rPr>
              <a:t>. 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C70E9A5-6605-E979-4938-E1D9B1A113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1" y="1261873"/>
            <a:ext cx="475488" cy="411479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188722"/>
            <a:ext cx="50292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시스템</a:t>
            </a:r>
            <a:r>
              <a:rPr sz="15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개요</a:t>
            </a:r>
            <a:endParaRPr sz="15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1508760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A5A5A5"/>
                </a:solidFill>
                <a:latin typeface="Pretendard" panose="02000503000000020004" pitchFamily="50" charset="-127"/>
              </a:rPr>
              <a:t>System Overview &amp; Architecture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1" y="1792224"/>
            <a:ext cx="54864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1" y="1920240"/>
            <a:ext cx="475488" cy="411479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1847089"/>
            <a:ext cx="50292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시작하기</a:t>
            </a:r>
            <a:endParaRPr sz="15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4128" y="2167129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A5A5A5"/>
                </a:solidFill>
                <a:latin typeface="Pretendard" panose="02000503000000020004" pitchFamily="50" charset="-127"/>
              </a:rPr>
              <a:t>Getting Started — Main 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1" y="2450592"/>
            <a:ext cx="54864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1" y="2578608"/>
            <a:ext cx="475488" cy="411479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505457"/>
            <a:ext cx="50292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지갑</a:t>
            </a:r>
            <a:r>
              <a:rPr sz="15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관리</a:t>
            </a:r>
            <a:endParaRPr sz="15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" y="2825497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A5A5A5"/>
                </a:solidFill>
                <a:latin typeface="Pretendard" panose="02000503000000020004" pitchFamily="50" charset="-127"/>
              </a:rPr>
              <a:t>Wallet Management — Deposit &amp; Withdraw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1" y="3108959"/>
            <a:ext cx="54864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01" y="3236977"/>
            <a:ext cx="475488" cy="411479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163825"/>
            <a:ext cx="50292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상품</a:t>
            </a:r>
            <a:r>
              <a:rPr sz="15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관리</a:t>
            </a:r>
            <a:endParaRPr sz="15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4128" y="3483865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A5A5A5"/>
                </a:solidFill>
                <a:latin typeface="Pretendard" panose="02000503000000020004" pitchFamily="50" charset="-127"/>
              </a:rPr>
              <a:t>Product Management — Register &amp; 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1" y="1261873"/>
            <a:ext cx="475488" cy="411479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9" y="1188722"/>
            <a:ext cx="50292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결제</a:t>
            </a:r>
            <a:r>
              <a:rPr sz="15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진행</a:t>
            </a:r>
            <a:endParaRPr sz="15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4849" y="1508760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A5A5A5"/>
                </a:solidFill>
                <a:latin typeface="Pretendard" panose="02000503000000020004" pitchFamily="50" charset="-127"/>
              </a:rPr>
              <a:t>Payment Flow — Buyer Experience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0" y="1792224"/>
            <a:ext cx="54864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217921" y="1920240"/>
            <a:ext cx="475488" cy="411479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9" y="1847089"/>
            <a:ext cx="50292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프로</a:t>
            </a:r>
            <a:r>
              <a:rPr lang="ko-KR" altLang="en-US" sz="15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필</a:t>
            </a:r>
            <a:endParaRPr sz="15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84849" y="2167129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A5A5A5"/>
                </a:solidFill>
                <a:latin typeface="Pretendard" panose="02000503000000020004" pitchFamily="50" charset="-127"/>
              </a:rPr>
              <a:t>User Profile &amp; Verification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17920" y="2450592"/>
            <a:ext cx="54864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17921" y="2601977"/>
            <a:ext cx="475488" cy="411479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0</a:t>
            </a:r>
            <a:r>
              <a:rPr lang="en-US"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7</a:t>
            </a:r>
            <a:endParaRPr sz="1300" b="1" dirty="0">
              <a:solidFill>
                <a:srgbClr val="ED7D31"/>
              </a:solidFill>
              <a:latin typeface="Pretendard" panose="0200050300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84849" y="2528825"/>
            <a:ext cx="50292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2060"/>
                </a:solidFill>
                <a:latin typeface="Pretendard" panose="02000503000000020004" pitchFamily="50" charset="-127"/>
              </a:rPr>
              <a:t>SDK </a:t>
            </a:r>
            <a:r>
              <a:rPr sz="15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연동</a:t>
            </a:r>
            <a:endParaRPr sz="15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84849" y="2848865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A5A5A5"/>
                </a:solidFill>
                <a:latin typeface="Pretendard" panose="02000503000000020004" pitchFamily="50" charset="-127"/>
              </a:rPr>
              <a:t>SDK Integration &amp; Developer Docs</a:t>
            </a:r>
          </a:p>
        </p:txBody>
      </p:sp>
      <p:sp>
        <p:nvSpPr>
          <p:cNvPr id="39" name="내용 개체 틀 38">
            <a:extLst>
              <a:ext uri="{FF2B5EF4-FFF2-40B4-BE49-F238E27FC236}">
                <a16:creationId xmlns:a16="http://schemas.microsoft.com/office/drawing/2014/main" id="{1ACAD8CB-4D14-43AF-2774-FB9F034B10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CED0A84-E3EE-27F8-E7AD-356CC0CF1B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65760" y="100584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블록체인 기반 결제 처리 시스템이</a:t>
            </a:r>
            <a:r>
              <a:rPr sz="1600" b="1" dirty="0">
                <a:solidFill>
                  <a:srgbClr val="002060"/>
                </a:solidFill>
                <a:latin typeface="Pretendard" panose="02000503000000020004" pitchFamily="50" charset="-127"/>
              </a:rPr>
              <a:t>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44751"/>
            <a:ext cx="5212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ERC-20 및 TRC-20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표준을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지원하며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,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기업과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개인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사용자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모두가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
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간편하게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암호화폐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결제를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처리할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수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있는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환경을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제공하는 시스템입니다</a:t>
            </a:r>
            <a:r>
              <a:rPr lang="en-US" altLang="ko-KR" sz="1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
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SDK를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통해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외부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쇼핑몰과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연동</a:t>
            </a:r>
            <a:r>
              <a:rPr lang="ko-KR" altLang="en-US" sz="1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가능하며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실시간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블록체인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확인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,
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자동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지갑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할당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,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입출금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알림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등 결제 시스템에 필요한 기능을 제공합니다</a:t>
            </a:r>
            <a:r>
              <a:rPr sz="12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1207008" cy="11430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667762"/>
            <a:ext cx="12070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Multi-Chain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06089"/>
            <a:ext cx="12070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ERC-20 / TRC-20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64207" y="3383280"/>
            <a:ext cx="1207008" cy="11430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64207" y="3667762"/>
            <a:ext cx="12070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실시간</a:t>
            </a:r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 </a:t>
            </a:r>
            <a:r>
              <a:rPr sz="11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알림</a:t>
            </a:r>
            <a:endParaRPr sz="1100" b="1" dirty="0">
              <a:solidFill>
                <a:srgbClr val="ED7D31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64207" y="4006089"/>
            <a:ext cx="12070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즉시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</a:t>
            </a:r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입출금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</a:t>
            </a:r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감지</a:t>
            </a:r>
            <a:endParaRPr sz="900" dirty="0">
              <a:solidFill>
                <a:srgbClr val="A5A5A5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962656" y="3383280"/>
            <a:ext cx="1207008" cy="11430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62656" y="3667762"/>
            <a:ext cx="12070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보안</a:t>
            </a:r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 키 </a:t>
            </a:r>
            <a:r>
              <a:rPr sz="11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관리</a:t>
            </a:r>
            <a:endParaRPr sz="1100" b="1" dirty="0">
              <a:solidFill>
                <a:srgbClr val="ED7D31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62656" y="4006089"/>
            <a:ext cx="12070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독립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Key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3383280"/>
            <a:ext cx="1207008" cy="11430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61104" y="3667761"/>
            <a:ext cx="12070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SDK </a:t>
            </a:r>
            <a:r>
              <a:rPr sz="11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연동</a:t>
            </a:r>
            <a:endParaRPr sz="1100" b="1" dirty="0">
              <a:solidFill>
                <a:srgbClr val="ED7D31"/>
              </a:solidFill>
              <a:latin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61104" y="4006089"/>
            <a:ext cx="12070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쉬운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</a:t>
            </a:r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외부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</a:t>
            </a:r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연동</a:t>
            </a:r>
            <a:endParaRPr sz="900" dirty="0">
              <a:solidFill>
                <a:srgbClr val="A5A5A5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955279" y="1005840"/>
            <a:ext cx="1554480" cy="548640"/>
          </a:xfrm>
          <a:prstGeom prst="rect">
            <a:avLst/>
          </a:prstGeom>
          <a:solidFill>
            <a:srgbClr val="008F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Pretendard" panose="02000503000000020004" pitchFamily="50" charset="-127"/>
              </a:rPr>
              <a:t>Client / SDK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1783080"/>
            <a:ext cx="1554480" cy="54864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Pretendard" panose="02000503000000020004" pitchFamily="50" charset="-127"/>
              </a:rPr>
              <a:t>API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39" y="2723852"/>
            <a:ext cx="1230628" cy="384048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</a:rPr>
              <a:t>Block scan</a:t>
            </a:r>
            <a:endParaRPr sz="10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61596" y="2723852"/>
            <a:ext cx="1230628" cy="384048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bg1"/>
                </a:solidFill>
                <a:latin typeface="Pretendard" panose="02000503000000020004" pitchFamily="50" charset="-127"/>
              </a:rPr>
              <a:t>Key</a:t>
            </a:r>
            <a:r>
              <a:rPr lang="en-US" sz="1000" b="1" dirty="0">
                <a:solidFill>
                  <a:schemeClr val="bg1"/>
                </a:solidFill>
                <a:latin typeface="Pretendard" panose="02000503000000020004" pitchFamily="50" charset="-127"/>
              </a:rPr>
              <a:t> manager</a:t>
            </a:r>
            <a:endParaRPr sz="1000" b="1" dirty="0">
              <a:solidFill>
                <a:schemeClr val="bg1"/>
              </a:solidFill>
              <a:latin typeface="Pretendard" panose="02000503000000020004" pitchFamily="50" charset="-12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825913" y="1783080"/>
            <a:ext cx="1554480" cy="548640"/>
          </a:xfrm>
          <a:prstGeom prst="rect">
            <a:avLst/>
          </a:prstGeom>
          <a:solidFill>
            <a:srgbClr val="4472C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Pretendard" panose="02000503000000020004" pitchFamily="50" charset="-127"/>
              </a:rPr>
              <a:t>Kafka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5533" y="2723852"/>
            <a:ext cx="1230628" cy="384048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</a:rPr>
              <a:t>market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32519" y="1554480"/>
            <a:ext cx="0" cy="22860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29" idx="2"/>
            <a:endCxn id="31" idx="0"/>
          </p:cNvCxnSpPr>
          <p:nvPr/>
        </p:nvCxnSpPr>
        <p:spPr>
          <a:xfrm flipH="1">
            <a:off x="7976910" y="2331720"/>
            <a:ext cx="755609" cy="392132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60719" y="3414507"/>
            <a:ext cx="594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시스템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</a:t>
            </a:r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구성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</a:t>
            </a:r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개요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 (</a:t>
            </a:r>
            <a:r>
              <a:rPr sz="900" dirty="0" err="1">
                <a:solidFill>
                  <a:srgbClr val="A5A5A5"/>
                </a:solidFill>
                <a:latin typeface="Pretendard" panose="02000503000000020004" pitchFamily="50" charset="-127"/>
              </a:rPr>
              <a:t>단순화</a:t>
            </a:r>
            <a:r>
              <a:rPr sz="900" dirty="0">
                <a:solidFill>
                  <a:srgbClr val="A5A5A5"/>
                </a:solidFill>
                <a:latin typeface="Pretendard" panose="02000503000000020004" pitchFamily="50" charset="-127"/>
              </a:rPr>
              <a:t>)</a:t>
            </a:r>
          </a:p>
        </p:txBody>
      </p:sp>
      <p:sp>
        <p:nvSpPr>
          <p:cNvPr id="42" name="내용 개체 틀 41">
            <a:extLst>
              <a:ext uri="{FF2B5EF4-FFF2-40B4-BE49-F238E27FC236}">
                <a16:creationId xmlns:a16="http://schemas.microsoft.com/office/drawing/2014/main" id="{8F811000-C092-8D65-DD64-C36D4F093E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FD9F7D86-749F-BC7E-8B76-91CDA9FE58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시스템 개요</a:t>
            </a:r>
            <a:endParaRPr lang="en-US" dirty="0"/>
          </a:p>
        </p:txBody>
      </p:sp>
      <p:sp>
        <p:nvSpPr>
          <p:cNvPr id="44" name="내용 개체 틀 43">
            <a:extLst>
              <a:ext uri="{FF2B5EF4-FFF2-40B4-BE49-F238E27FC236}">
                <a16:creationId xmlns:a16="http://schemas.microsoft.com/office/drawing/2014/main" id="{43EE12A4-9438-774B-EFD4-82175B5BC76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 err="1"/>
              <a:t>계략적</a:t>
            </a:r>
            <a:r>
              <a:rPr lang="ko-KR" altLang="en-US" dirty="0"/>
              <a:t> 소개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E85BA19-7F39-2DB4-5C64-32CC4E616D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cxnSp>
        <p:nvCxnSpPr>
          <p:cNvPr id="46" name="Connector 35"/>
          <p:cNvCxnSpPr>
            <a:cxnSpLocks/>
            <a:stCxn id="29" idx="2"/>
            <a:endCxn id="30" idx="0"/>
          </p:cNvCxnSpPr>
          <p:nvPr/>
        </p:nvCxnSpPr>
        <p:spPr>
          <a:xfrm flipH="1">
            <a:off x="6650353" y="2331720"/>
            <a:ext cx="2082166" cy="392132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35">
            <a:extLst>
              <a:ext uri="{FF2B5EF4-FFF2-40B4-BE49-F238E27FC236}">
                <a16:creationId xmlns:a16="http://schemas.microsoft.com/office/drawing/2014/main" id="{FB68812A-43FE-BF3E-CD7E-C9BB86E91EE6}"/>
              </a:ext>
            </a:extLst>
          </p:cNvPr>
          <p:cNvCxnSpPr>
            <a:cxnSpLocks/>
            <a:stCxn id="33" idx="0"/>
            <a:endCxn id="29" idx="2"/>
          </p:cNvCxnSpPr>
          <p:nvPr/>
        </p:nvCxnSpPr>
        <p:spPr>
          <a:xfrm flipH="1" flipV="1">
            <a:off x="8732519" y="2331720"/>
            <a:ext cx="568328" cy="392132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32">
            <a:extLst>
              <a:ext uri="{FF2B5EF4-FFF2-40B4-BE49-F238E27FC236}">
                <a16:creationId xmlns:a16="http://schemas.microsoft.com/office/drawing/2014/main" id="{C7AB6459-355B-470C-D6C9-6F3E523B30D3}"/>
              </a:ext>
            </a:extLst>
          </p:cNvPr>
          <p:cNvSpPr/>
          <p:nvPr/>
        </p:nvSpPr>
        <p:spPr>
          <a:xfrm>
            <a:off x="9987839" y="2728875"/>
            <a:ext cx="1230628" cy="384048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</a:rPr>
              <a:t>notification</a:t>
            </a:r>
            <a:endParaRPr sz="10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60" name="Connector 35">
            <a:extLst>
              <a:ext uri="{FF2B5EF4-FFF2-40B4-BE49-F238E27FC236}">
                <a16:creationId xmlns:a16="http://schemas.microsoft.com/office/drawing/2014/main" id="{C0C24929-2850-A4BA-244D-2ACB45EE10EB}"/>
              </a:ext>
            </a:extLst>
          </p:cNvPr>
          <p:cNvCxnSpPr>
            <a:cxnSpLocks/>
            <a:stCxn id="59" idx="0"/>
            <a:endCxn id="32" idx="2"/>
          </p:cNvCxnSpPr>
          <p:nvPr/>
        </p:nvCxnSpPr>
        <p:spPr>
          <a:xfrm flipV="1">
            <a:off x="10603153" y="2331720"/>
            <a:ext cx="0" cy="397155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35">
            <a:extLst>
              <a:ext uri="{FF2B5EF4-FFF2-40B4-BE49-F238E27FC236}">
                <a16:creationId xmlns:a16="http://schemas.microsoft.com/office/drawing/2014/main" id="{B53A3E9C-3E9F-2334-A401-0FD62B151158}"/>
              </a:ext>
            </a:extLst>
          </p:cNvPr>
          <p:cNvCxnSpPr>
            <a:cxnSpLocks/>
            <a:stCxn id="32" idx="1"/>
            <a:endCxn id="29" idx="3"/>
          </p:cNvCxnSpPr>
          <p:nvPr/>
        </p:nvCxnSpPr>
        <p:spPr>
          <a:xfrm flipH="1">
            <a:off x="9509759" y="2057400"/>
            <a:ext cx="316154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36">
            <a:extLst>
              <a:ext uri="{FF2B5EF4-FFF2-40B4-BE49-F238E27FC236}">
                <a16:creationId xmlns:a16="http://schemas.microsoft.com/office/drawing/2014/main" id="{61B20AF1-3EA4-0988-823C-2F889C2CB03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7976910" y="2331720"/>
            <a:ext cx="2626243" cy="392132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35">
            <a:extLst>
              <a:ext uri="{FF2B5EF4-FFF2-40B4-BE49-F238E27FC236}">
                <a16:creationId xmlns:a16="http://schemas.microsoft.com/office/drawing/2014/main" id="{604F6D2F-5606-B9D7-E779-92FFB136263E}"/>
              </a:ext>
            </a:extLst>
          </p:cNvPr>
          <p:cNvCxnSpPr>
            <a:cxnSpLocks/>
            <a:stCxn id="30" idx="0"/>
            <a:endCxn id="32" idx="2"/>
          </p:cNvCxnSpPr>
          <p:nvPr/>
        </p:nvCxnSpPr>
        <p:spPr>
          <a:xfrm flipV="1">
            <a:off x="6650353" y="2331720"/>
            <a:ext cx="3952800" cy="392132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35">
            <a:extLst>
              <a:ext uri="{FF2B5EF4-FFF2-40B4-BE49-F238E27FC236}">
                <a16:creationId xmlns:a16="http://schemas.microsoft.com/office/drawing/2014/main" id="{FA9CA9BB-E8B2-6485-715E-DF1586555162}"/>
              </a:ext>
            </a:extLst>
          </p:cNvPr>
          <p:cNvCxnSpPr>
            <a:cxnSpLocks/>
            <a:stCxn id="33" idx="0"/>
            <a:endCxn id="32" idx="2"/>
          </p:cNvCxnSpPr>
          <p:nvPr/>
        </p:nvCxnSpPr>
        <p:spPr>
          <a:xfrm flipV="1">
            <a:off x="9300847" y="2331720"/>
            <a:ext cx="1302306" cy="392132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20041" y="1417321"/>
            <a:ext cx="365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D7D31"/>
                </a:solidFill>
                <a:latin typeface="Pretendard" panose="02000503000000020004" pitchFamily="50" charset="-127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3" y="1417320"/>
            <a:ext cx="4846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상단 </a:t>
            </a:r>
            <a:r>
              <a:rPr lang="ko-KR" altLang="en-US" sz="1300" b="1" dirty="0" err="1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메뉴바</a:t>
            </a:r>
            <a:r>
              <a:rPr lang="ko-KR" altLang="en-US" sz="13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영역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3" y="1764793"/>
            <a:ext cx="52303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Demo Shop, Q&amp;A,</a:t>
            </a:r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Docs </a:t>
            </a:r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클릭 시 각 페이지로 이동합니다</a:t>
            </a:r>
            <a:r>
              <a:rPr lang="en-US" altLang="ko-KR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</a:p>
          <a:p>
            <a:pPr algn="l"/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햄버거 메뉴 클릭 시 사용자 정보 및 언어선택이 가능한 서브메뉴가 표시됩니다</a:t>
            </a:r>
            <a:r>
              <a:rPr lang="en-US" altLang="ko-KR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sz="11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1" y="2423161"/>
            <a:ext cx="365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D7D31"/>
                </a:solidFill>
                <a:latin typeface="Pretendard" panose="02000503000000020004" pitchFamily="50" charset="-127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3" y="2423159"/>
            <a:ext cx="4846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총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자산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확인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3" y="2770633"/>
            <a:ext cx="484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메인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화면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상단에서</a:t>
            </a:r>
            <a:r>
              <a:rPr lang="en-US"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시스템에 총 잔액을 표시합니다</a:t>
            </a:r>
            <a:r>
              <a:rPr lang="en-US" altLang="ko-KR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sz="11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1" y="3429001"/>
            <a:ext cx="365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D7D31"/>
                </a:solidFill>
                <a:latin typeface="Pretendard" panose="02000503000000020004" pitchFamily="50" charset="-127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3" y="3429000"/>
            <a:ext cx="4846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하단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탭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네비게이션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3" y="3776473"/>
            <a:ext cx="484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Home · Product · Wallet · Profile 4개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탭으로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주요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기능에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접근합니다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pic>
        <p:nvPicPr>
          <p:cNvPr id="23" name="Picture 22" descr="유저메뉴얼_메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1" y="1005840"/>
            <a:ext cx="2428547" cy="5303520"/>
          </a:xfrm>
          <a:prstGeom prst="rect">
            <a:avLst/>
          </a:prstGeom>
        </p:spPr>
      </p:pic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72C1CD70-E162-630E-B784-DDCCB6A638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00B065C5-D48F-BBDC-5DFC-82724F7CB51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시작하기</a:t>
            </a:r>
            <a:endParaRPr lang="en-US" dirty="0"/>
          </a:p>
        </p:txBody>
      </p:sp>
      <p:sp>
        <p:nvSpPr>
          <p:cNvPr id="26" name="내용 개체 틀 25">
            <a:extLst>
              <a:ext uri="{FF2B5EF4-FFF2-40B4-BE49-F238E27FC236}">
                <a16:creationId xmlns:a16="http://schemas.microsoft.com/office/drawing/2014/main" id="{83C5DAA0-381A-2874-01E1-51519FC4916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 err="1"/>
              <a:t>메인화면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B3ECCB-B309-AD52-EA3D-77D15662A6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8EFD8CA-6906-C7FF-DF69-77E685A16329}"/>
              </a:ext>
            </a:extLst>
          </p:cNvPr>
          <p:cNvSpPr/>
          <p:nvPr/>
        </p:nvSpPr>
        <p:spPr>
          <a:xfrm>
            <a:off x="7820969" y="2333862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C51FF1D-2A9B-8242-5A37-C51F82A3E0E2}"/>
              </a:ext>
            </a:extLst>
          </p:cNvPr>
          <p:cNvSpPr/>
          <p:nvPr/>
        </p:nvSpPr>
        <p:spPr>
          <a:xfrm>
            <a:off x="8274516" y="916543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B8D5478-FB5D-DA22-9A6F-E14EFCBFB7AF}"/>
              </a:ext>
            </a:extLst>
          </p:cNvPr>
          <p:cNvSpPr/>
          <p:nvPr/>
        </p:nvSpPr>
        <p:spPr>
          <a:xfrm>
            <a:off x="7625706" y="5958443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74321" y="1022283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지갑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탭에서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보유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코인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잔액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확인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및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입출금을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처리합니다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020" y="1902107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tUSDC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등 보유중인 코인을 </a:t>
            </a:r>
            <a:r>
              <a:rPr lang="ko-KR" altLang="en-US" sz="11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드랍다운으로</a:t>
            </a:r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선택</a:t>
            </a:r>
            <a:endParaRPr sz="11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020" y="2651915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코인별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현재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보유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수량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및 USD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환산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가치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표시</a:t>
            </a:r>
            <a:endParaRPr sz="11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020" y="3401723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코인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및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네트워크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선택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후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고유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입금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주소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발급</a:t>
            </a:r>
            <a:r>
              <a:rPr lang="en-US"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(6</a:t>
            </a:r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페이지 </a:t>
            </a:r>
            <a:r>
              <a:rPr lang="ko-KR" altLang="en-US" sz="11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모달</a:t>
            </a:r>
            <a:r>
              <a:rPr lang="en-US" altLang="ko-KR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sz="11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2020" y="4151531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수신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주소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입력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및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금액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설정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후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출금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신청</a:t>
            </a:r>
            <a:r>
              <a:rPr lang="en-US"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(7</a:t>
            </a:r>
            <a:r>
              <a:rPr lang="ko-KR" altLang="en-US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페이지 </a:t>
            </a:r>
            <a:r>
              <a:rPr lang="ko-KR" altLang="en-US" sz="11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모달</a:t>
            </a:r>
            <a:r>
              <a:rPr lang="en-US" altLang="ko-KR" sz="11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sz="11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2020" y="4901339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Deposit/Withdraw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탭으로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거래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이력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필터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조회</a:t>
            </a:r>
            <a:endParaRPr sz="11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pic>
        <p:nvPicPr>
          <p:cNvPr id="27" name="Picture 26" descr="유저메뉴얼_사진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1" y="1005840"/>
            <a:ext cx="2437236" cy="5303520"/>
          </a:xfrm>
          <a:prstGeom prst="rect">
            <a:avLst/>
          </a:prstGeom>
        </p:spPr>
      </p:pic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9247328E-E86C-BB83-5EF9-F2FC530E79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</p:txBody>
      </p:sp>
      <p:sp>
        <p:nvSpPr>
          <p:cNvPr id="29" name="내용 개체 틀 28">
            <a:extLst>
              <a:ext uri="{FF2B5EF4-FFF2-40B4-BE49-F238E27FC236}">
                <a16:creationId xmlns:a16="http://schemas.microsoft.com/office/drawing/2014/main" id="{AF8CEECD-64F0-98BF-D105-DFA20126DB0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지갑 관리</a:t>
            </a:r>
            <a:endParaRPr lang="en-US" dirty="0"/>
          </a:p>
        </p:txBody>
      </p:sp>
      <p:sp>
        <p:nvSpPr>
          <p:cNvPr id="30" name="내용 개체 틀 29">
            <a:extLst>
              <a:ext uri="{FF2B5EF4-FFF2-40B4-BE49-F238E27FC236}">
                <a16:creationId xmlns:a16="http://schemas.microsoft.com/office/drawing/2014/main" id="{8C9DC8BA-F5D2-946A-2593-7E755E2D1B3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입출금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53C8A1C-A029-0E5E-0ADA-414265AB2C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31B834B-8422-0B3F-D9A1-AAD84F2990B6}"/>
              </a:ext>
            </a:extLst>
          </p:cNvPr>
          <p:cNvSpPr/>
          <p:nvPr/>
        </p:nvSpPr>
        <p:spPr>
          <a:xfrm>
            <a:off x="6756120" y="1547989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1A36B08-1FBD-F187-1DD2-A8E3D83C146E}"/>
              </a:ext>
            </a:extLst>
          </p:cNvPr>
          <p:cNvGrpSpPr/>
          <p:nvPr/>
        </p:nvGrpSpPr>
        <p:grpSpPr>
          <a:xfrm>
            <a:off x="292836" y="1560376"/>
            <a:ext cx="5358385" cy="338554"/>
            <a:chOff x="219456" y="1880262"/>
            <a:chExt cx="5358385" cy="338554"/>
          </a:xfrm>
        </p:grpSpPr>
        <p:sp>
          <p:nvSpPr>
            <p:cNvPr id="13" name="TextBox 12"/>
            <p:cNvSpPr txBox="1"/>
            <p:nvPr/>
          </p:nvSpPr>
          <p:spPr>
            <a:xfrm>
              <a:off x="548640" y="1920240"/>
              <a:ext cx="502920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코인</a:t>
              </a:r>
              <a:r>
                <a:rPr sz="1300" b="1" dirty="0">
                  <a:solidFill>
                    <a:srgbClr val="002060"/>
                  </a:solidFill>
                  <a:latin typeface="Pretendard" panose="02000503000000020004" pitchFamily="50" charset="-127"/>
                </a:rPr>
                <a:t> </a:t>
              </a:r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선택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9764BC-16E0-2C01-2833-78F00B40B20F}"/>
                </a:ext>
              </a:extLst>
            </p:cNvPr>
            <p:cNvSpPr txBox="1"/>
            <p:nvPr/>
          </p:nvSpPr>
          <p:spPr>
            <a:xfrm>
              <a:off x="219456" y="1880262"/>
              <a:ext cx="36575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>
                  <a:solidFill>
                    <a:srgbClr val="ED7D31"/>
                  </a:solidFill>
                  <a:latin typeface="Pretendard" panose="02000503000000020004" pitchFamily="50" charset="-127"/>
                </a:rPr>
                <a:t>①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D9122D9-90EB-E967-ED90-3B93DC0643AB}"/>
              </a:ext>
            </a:extLst>
          </p:cNvPr>
          <p:cNvGrpSpPr/>
          <p:nvPr/>
        </p:nvGrpSpPr>
        <p:grpSpPr>
          <a:xfrm>
            <a:off x="292836" y="2264437"/>
            <a:ext cx="5358385" cy="338554"/>
            <a:chOff x="219456" y="1880262"/>
            <a:chExt cx="5358385" cy="33855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801645E-B8BF-25A2-9415-4E33AE081F95}"/>
                </a:ext>
              </a:extLst>
            </p:cNvPr>
            <p:cNvSpPr txBox="1"/>
            <p:nvPr/>
          </p:nvSpPr>
          <p:spPr>
            <a:xfrm>
              <a:off x="548640" y="1920240"/>
              <a:ext cx="502920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3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보유량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EE870E-5B5A-31F9-0B35-7C840F9718A2}"/>
                </a:ext>
              </a:extLst>
            </p:cNvPr>
            <p:cNvSpPr txBox="1"/>
            <p:nvPr/>
          </p:nvSpPr>
          <p:spPr>
            <a:xfrm>
              <a:off x="219456" y="1880262"/>
              <a:ext cx="36575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600" b="1" dirty="0">
                  <a:solidFill>
                    <a:srgbClr val="ED7D3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②</a:t>
              </a:r>
              <a:endParaRPr sz="1600" b="1" dirty="0">
                <a:solidFill>
                  <a:srgbClr val="ED7D31"/>
                </a:solidFill>
                <a:latin typeface="Pretendard" panose="02000503000000020004" pitchFamily="50" charset="-127"/>
              </a:endParaRPr>
            </a:p>
          </p:txBody>
        </p: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DBAE0C22-AD73-148D-FEC7-7826C645F953}"/>
              </a:ext>
            </a:extLst>
          </p:cNvPr>
          <p:cNvSpPr/>
          <p:nvPr/>
        </p:nvSpPr>
        <p:spPr>
          <a:xfrm>
            <a:off x="6908520" y="1846980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06086A7-F402-4A98-1EBF-EB78B2C6009E}"/>
              </a:ext>
            </a:extLst>
          </p:cNvPr>
          <p:cNvGrpSpPr/>
          <p:nvPr/>
        </p:nvGrpSpPr>
        <p:grpSpPr>
          <a:xfrm>
            <a:off x="292836" y="3012323"/>
            <a:ext cx="5358385" cy="338554"/>
            <a:chOff x="219456" y="1880262"/>
            <a:chExt cx="5358385" cy="33855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BF162CC-1CAE-19EB-A53E-DEAD9B65063F}"/>
                </a:ext>
              </a:extLst>
            </p:cNvPr>
            <p:cNvSpPr txBox="1"/>
            <p:nvPr/>
          </p:nvSpPr>
          <p:spPr>
            <a:xfrm>
              <a:off x="548640" y="1920240"/>
              <a:ext cx="502920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3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입금 </a:t>
              </a:r>
              <a:r>
                <a:rPr lang="en-US" altLang="ko-KR" sz="13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(Deposit)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A02482-F0A6-64F7-EA01-E1F9C344C6BD}"/>
                </a:ext>
              </a:extLst>
            </p:cNvPr>
            <p:cNvSpPr txBox="1"/>
            <p:nvPr/>
          </p:nvSpPr>
          <p:spPr>
            <a:xfrm>
              <a:off x="219456" y="1880262"/>
              <a:ext cx="36575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600" b="1" dirty="0">
                  <a:solidFill>
                    <a:srgbClr val="ED7D3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③</a:t>
              </a:r>
              <a:endParaRPr sz="1600" b="1" dirty="0">
                <a:solidFill>
                  <a:srgbClr val="ED7D31"/>
                </a:solidFill>
                <a:latin typeface="Pretendard" panose="0200050300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B28FFB3-B22F-08DD-99B3-AF70249E4F39}"/>
              </a:ext>
            </a:extLst>
          </p:cNvPr>
          <p:cNvGrpSpPr/>
          <p:nvPr/>
        </p:nvGrpSpPr>
        <p:grpSpPr>
          <a:xfrm>
            <a:off x="292836" y="3812977"/>
            <a:ext cx="5358385" cy="338554"/>
            <a:chOff x="219456" y="1880262"/>
            <a:chExt cx="5358385" cy="33855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E9D37A-3AB9-AB69-12FF-61594AC978CE}"/>
                </a:ext>
              </a:extLst>
            </p:cNvPr>
            <p:cNvSpPr txBox="1"/>
            <p:nvPr/>
          </p:nvSpPr>
          <p:spPr>
            <a:xfrm>
              <a:off x="548640" y="1920240"/>
              <a:ext cx="502920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3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출금 </a:t>
              </a:r>
              <a:r>
                <a:rPr lang="en-US" altLang="ko-KR" sz="13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(Withdraw)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0F3572-8114-CDC2-33B5-F6893BC5CD8B}"/>
                </a:ext>
              </a:extLst>
            </p:cNvPr>
            <p:cNvSpPr txBox="1"/>
            <p:nvPr/>
          </p:nvSpPr>
          <p:spPr>
            <a:xfrm>
              <a:off x="219456" y="1880262"/>
              <a:ext cx="36575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600" b="1" dirty="0">
                  <a:solidFill>
                    <a:srgbClr val="ED7D3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④</a:t>
              </a:r>
              <a:endParaRPr sz="1600" b="1" dirty="0">
                <a:solidFill>
                  <a:srgbClr val="ED7D31"/>
                </a:solidFill>
                <a:latin typeface="Pretendard" panose="02000503000000020004" pitchFamily="50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C638588-EAB5-98EF-444D-9E6FDE0382C6}"/>
              </a:ext>
            </a:extLst>
          </p:cNvPr>
          <p:cNvGrpSpPr/>
          <p:nvPr/>
        </p:nvGrpSpPr>
        <p:grpSpPr>
          <a:xfrm>
            <a:off x="301981" y="4576503"/>
            <a:ext cx="5358385" cy="338554"/>
            <a:chOff x="219456" y="1880262"/>
            <a:chExt cx="5358385" cy="338554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FE154-F046-4A51-34BD-D4CFB356EE6D}"/>
                </a:ext>
              </a:extLst>
            </p:cNvPr>
            <p:cNvSpPr txBox="1"/>
            <p:nvPr/>
          </p:nvSpPr>
          <p:spPr>
            <a:xfrm>
              <a:off x="548640" y="1920240"/>
              <a:ext cx="502920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3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거래내역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A2A1ED1-8024-FCB5-ECF9-A3DAD8F96E82}"/>
                </a:ext>
              </a:extLst>
            </p:cNvPr>
            <p:cNvSpPr txBox="1"/>
            <p:nvPr/>
          </p:nvSpPr>
          <p:spPr>
            <a:xfrm>
              <a:off x="219456" y="1880262"/>
              <a:ext cx="36575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600" b="1" dirty="0">
                  <a:solidFill>
                    <a:srgbClr val="ED7D3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⑤</a:t>
              </a:r>
              <a:endParaRPr sz="1600" b="1" dirty="0">
                <a:solidFill>
                  <a:srgbClr val="ED7D31"/>
                </a:solidFill>
                <a:latin typeface="Pretendard" panose="02000503000000020004" pitchFamily="50" charset="-127"/>
              </a:endParaRPr>
            </a:p>
          </p:txBody>
        </p:sp>
      </p:grpSp>
      <p:sp>
        <p:nvSpPr>
          <p:cNvPr id="54" name="타원 53">
            <a:extLst>
              <a:ext uri="{FF2B5EF4-FFF2-40B4-BE49-F238E27FC236}">
                <a16:creationId xmlns:a16="http://schemas.microsoft.com/office/drawing/2014/main" id="{125B37ED-D767-FF5D-321A-7F5F643AECE2}"/>
              </a:ext>
            </a:extLst>
          </p:cNvPr>
          <p:cNvSpPr/>
          <p:nvPr/>
        </p:nvSpPr>
        <p:spPr>
          <a:xfrm>
            <a:off x="6928275" y="2438787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797AB72-F163-0227-E80A-3AE99C5CF137}"/>
              </a:ext>
            </a:extLst>
          </p:cNvPr>
          <p:cNvSpPr/>
          <p:nvPr/>
        </p:nvSpPr>
        <p:spPr>
          <a:xfrm>
            <a:off x="8108212" y="2426840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6B474E54-2868-A9F8-9372-DF799F0B6A99}"/>
              </a:ext>
            </a:extLst>
          </p:cNvPr>
          <p:cNvSpPr/>
          <p:nvPr/>
        </p:nvSpPr>
        <p:spPr>
          <a:xfrm>
            <a:off x="7212862" y="2681198"/>
            <a:ext cx="195263" cy="17859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74320" y="1005840"/>
            <a:ext cx="5486400" cy="9144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1" y="1051561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051559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코인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선택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1417320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입금할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코인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종류를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드롭다운에서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선택합니다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예: USDC Test (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tUSDC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93392"/>
            <a:ext cx="5486400" cy="914400"/>
          </a:xfrm>
          <a:prstGeom prst="rect">
            <a:avLst/>
          </a:prstGeom>
          <a:solidFill>
            <a:srgbClr val="4472C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1" y="2039113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039111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네트워크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선택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2404872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해당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코인이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속한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네트워크를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선택합니다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예: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speolia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test net - USDC Test (11155111)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80944"/>
            <a:ext cx="5486400" cy="9144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1" y="3026665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26664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입금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주소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확인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3392424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시스템이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고유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입금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주소를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발급합니다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68496"/>
            <a:ext cx="5486400" cy="914400"/>
          </a:xfrm>
          <a:prstGeom prst="rect">
            <a:avLst/>
          </a:prstGeom>
          <a:solidFill>
            <a:srgbClr val="4472C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1" y="4014217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14216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QR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코드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활용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4379976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'Show QR Code'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버튼으로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QR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코드를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표시합니다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모바일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지갑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앱</a:t>
            </a:r>
            <a:r>
              <a:rPr lang="ko-KR" altLang="en-US" sz="1000" dirty="0">
                <a:solidFill>
                  <a:srgbClr val="CCDD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으로 스캔 시 지갑주소를 입력할 수 있습니다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56048"/>
            <a:ext cx="5486400" cy="9144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1" y="5001769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01768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입금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완료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확인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71600" y="5367528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블록체인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컨펌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후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잔액이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자동으로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업데이트됩니다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알림을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통해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입금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감지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즉시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안내됩니다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96020" y="4725454"/>
            <a:ext cx="3220107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33180" y="4725456"/>
            <a:ext cx="31127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⚠ 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주의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: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반드시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올바른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네트워크를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선택</a:t>
            </a:r>
            <a:r>
              <a:rPr lang="ko-KR" altLang="en-US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해야 합니다</a:t>
            </a:r>
            <a:r>
              <a:rPr lang="en-US" altLang="ko-KR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다른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네트워크로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BF3600"/>
                </a:solidFill>
                <a:latin typeface="Pretendard" panose="02000503000000020004" pitchFamily="50" charset="-127"/>
              </a:rPr>
              <a:t>전송</a:t>
            </a:r>
            <a:r>
              <a:rPr sz="1100" dirty="0">
                <a:solidFill>
                  <a:srgbClr val="BF3600"/>
                </a:solidFill>
                <a:latin typeface="Pretendard" panose="02000503000000020004" pitchFamily="50" charset="-127"/>
              </a:rPr>
              <a:t> 시 </a:t>
            </a:r>
            <a:r>
              <a:rPr lang="ko-KR" altLang="en-US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입금처리가 되지 않습니다</a:t>
            </a:r>
            <a:r>
              <a:rPr lang="en-US" altLang="ko-KR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sz="1100" dirty="0">
              <a:solidFill>
                <a:srgbClr val="BF3600"/>
              </a:solidFill>
              <a:latin typeface="Pretendard" panose="02000503000000020004" pitchFamily="50" charset="-127"/>
            </a:endParaRPr>
          </a:p>
        </p:txBody>
      </p:sp>
      <p:pic>
        <p:nvPicPr>
          <p:cNvPr id="32" name="Picture 31" descr="유저메뉴얼_사진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2438671" cy="5303520"/>
          </a:xfrm>
          <a:prstGeom prst="rect">
            <a:avLst/>
          </a:prstGeom>
        </p:spPr>
      </p:pic>
      <p:sp>
        <p:nvSpPr>
          <p:cNvPr id="33" name="내용 개체 틀 32">
            <a:extLst>
              <a:ext uri="{FF2B5EF4-FFF2-40B4-BE49-F238E27FC236}">
                <a16:creationId xmlns:a16="http://schemas.microsoft.com/office/drawing/2014/main" id="{29E5E655-661D-D489-E1AF-BD324D74A5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</p:txBody>
      </p:sp>
      <p:sp>
        <p:nvSpPr>
          <p:cNvPr id="34" name="내용 개체 틀 33">
            <a:extLst>
              <a:ext uri="{FF2B5EF4-FFF2-40B4-BE49-F238E27FC236}">
                <a16:creationId xmlns:a16="http://schemas.microsoft.com/office/drawing/2014/main" id="{9CC0C8BF-B419-A099-19F9-347E671CE43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지갑 관리</a:t>
            </a:r>
            <a:endParaRPr lang="en-US" dirty="0"/>
          </a:p>
        </p:txBody>
      </p:sp>
      <p:sp>
        <p:nvSpPr>
          <p:cNvPr id="35" name="내용 개체 틀 34">
            <a:extLst>
              <a:ext uri="{FF2B5EF4-FFF2-40B4-BE49-F238E27FC236}">
                <a16:creationId xmlns:a16="http://schemas.microsoft.com/office/drawing/2014/main" id="{1568CA3F-9A7B-7677-63D7-20AAE4894F4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입출금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C276980-8AC7-5C9D-D855-DAA5152F38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74320" y="1005840"/>
            <a:ext cx="5486400" cy="9144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1" y="1051561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051559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코인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선택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1417320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출금할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코인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종류를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선택합니다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예: ETH Test (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tEth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93392"/>
            <a:ext cx="5486400" cy="914400"/>
          </a:xfrm>
          <a:prstGeom prst="rect">
            <a:avLst/>
          </a:prstGeom>
          <a:solidFill>
            <a:srgbClr val="4472C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1" y="2039113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039111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네트워크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선택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2404872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출금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네트워크를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선택합니다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예: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speolia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test net - ETH Test (11155111)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80944"/>
            <a:ext cx="5486400" cy="9144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1" y="3026665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26664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수신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주소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입력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3392424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수신자의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지갑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주소를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정확히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입력합니다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예: 0x...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68496"/>
            <a:ext cx="5486400" cy="914400"/>
          </a:xfrm>
          <a:prstGeom prst="rect">
            <a:avLst/>
          </a:prstGeom>
          <a:solidFill>
            <a:srgbClr val="4472C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1" y="4014217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14216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출금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금액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입력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4379976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출금할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수량을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입력합니다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56048"/>
            <a:ext cx="5486400" cy="9144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1" y="5001769"/>
            <a:ext cx="1005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ED7D31"/>
                </a:solidFill>
                <a:latin typeface="Pretendard" panose="02000503000000020004" pitchFamily="50" charset="-127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01768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출금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신청</a:t>
            </a:r>
            <a:r>
              <a:rPr sz="1300" b="1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완료</a:t>
            </a:r>
            <a:endParaRPr sz="1300" b="1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71600" y="5367528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'Withdraw'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버튼을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눌러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출금을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신청합니다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
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블록체인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전송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후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완료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알림이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CCDDFF"/>
                </a:solidFill>
                <a:latin typeface="Pretendard" panose="02000503000000020004" pitchFamily="50" charset="-127"/>
              </a:rPr>
              <a:t>발송됩니다</a:t>
            </a:r>
            <a:r>
              <a:rPr sz="1000" dirty="0">
                <a:solidFill>
                  <a:srgbClr val="CCDDFF"/>
                </a:solidFill>
                <a:latin typeface="Pretendard" panose="02000503000000020004" pitchFamily="50" charset="-127"/>
              </a:rPr>
              <a:t>.</a:t>
            </a:r>
          </a:p>
        </p:txBody>
      </p:sp>
      <p:pic>
        <p:nvPicPr>
          <p:cNvPr id="32" name="Picture 31" descr="유저메뉴얼_사진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1" y="1005840"/>
            <a:ext cx="2442725" cy="5303520"/>
          </a:xfrm>
          <a:prstGeom prst="rect">
            <a:avLst/>
          </a:prstGeom>
        </p:spPr>
      </p:pic>
      <p:sp>
        <p:nvSpPr>
          <p:cNvPr id="33" name="내용 개체 틀 32">
            <a:extLst>
              <a:ext uri="{FF2B5EF4-FFF2-40B4-BE49-F238E27FC236}">
                <a16:creationId xmlns:a16="http://schemas.microsoft.com/office/drawing/2014/main" id="{F8433AFF-F6D1-5C4A-5552-B4F23FF471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</p:txBody>
      </p:sp>
      <p:sp>
        <p:nvSpPr>
          <p:cNvPr id="34" name="내용 개체 틀 33">
            <a:extLst>
              <a:ext uri="{FF2B5EF4-FFF2-40B4-BE49-F238E27FC236}">
                <a16:creationId xmlns:a16="http://schemas.microsoft.com/office/drawing/2014/main" id="{37EDB05A-18C4-6A74-D92F-19B124B4995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지갑 관리</a:t>
            </a:r>
            <a:endParaRPr lang="en-US" dirty="0"/>
          </a:p>
        </p:txBody>
      </p:sp>
      <p:sp>
        <p:nvSpPr>
          <p:cNvPr id="35" name="내용 개체 틀 34">
            <a:extLst>
              <a:ext uri="{FF2B5EF4-FFF2-40B4-BE49-F238E27FC236}">
                <a16:creationId xmlns:a16="http://schemas.microsoft.com/office/drawing/2014/main" id="{94555ACE-CAE8-7072-A40E-216E3166E4F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출금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250C0E8-ADA3-9E20-12E4-1F204E0B31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22223257-3748-CD48-F584-6C2484F0C558}"/>
              </a:ext>
            </a:extLst>
          </p:cNvPr>
          <p:cNvSpPr/>
          <p:nvPr/>
        </p:nvSpPr>
        <p:spPr>
          <a:xfrm>
            <a:off x="8796020" y="4725454"/>
            <a:ext cx="3220107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B31829-7695-FDBE-4AAE-F38A1D491FA6}"/>
              </a:ext>
            </a:extLst>
          </p:cNvPr>
          <p:cNvSpPr txBox="1"/>
          <p:nvPr/>
        </p:nvSpPr>
        <p:spPr>
          <a:xfrm>
            <a:off x="8933180" y="4725456"/>
            <a:ext cx="31127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⚠  주의</a:t>
            </a:r>
            <a:r>
              <a:rPr lang="en-US" altLang="ko-KR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출금 신청 후 취소가 불가합니다</a:t>
            </a:r>
            <a:r>
              <a:rPr lang="en-US" altLang="ko-KR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 </a:t>
            </a:r>
            <a:r>
              <a:rPr lang="ko-KR" altLang="en-US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주소와 금액을 반드시 재확인 후 </a:t>
            </a:r>
            <a:r>
              <a:rPr lang="ko-KR" altLang="en-US" sz="1100" dirty="0" err="1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진행해야합니다</a:t>
            </a:r>
            <a:r>
              <a:rPr lang="en-US" altLang="ko-KR" sz="1100" dirty="0">
                <a:solidFill>
                  <a:srgbClr val="BF36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9878" y="1042636"/>
            <a:ext cx="56692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판매자는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Product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탭에서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결제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상품을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등록하고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관리합니다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30" name="내용 개체 틀 29">
            <a:extLst>
              <a:ext uri="{FF2B5EF4-FFF2-40B4-BE49-F238E27FC236}">
                <a16:creationId xmlns:a16="http://schemas.microsoft.com/office/drawing/2014/main" id="{AD972A6D-3A4B-CDF6-65FF-F5CEC439CBD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</p:txBody>
      </p:sp>
      <p:sp>
        <p:nvSpPr>
          <p:cNvPr id="31" name="내용 개체 틀 30">
            <a:extLst>
              <a:ext uri="{FF2B5EF4-FFF2-40B4-BE49-F238E27FC236}">
                <a16:creationId xmlns:a16="http://schemas.microsoft.com/office/drawing/2014/main" id="{1340D613-4851-A58D-564D-27AAD3F6AB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상품 관리</a:t>
            </a:r>
            <a:endParaRPr lang="en-US" dirty="0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CF224E68-4519-189E-32EF-5E23836ED66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조회 및 등록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798D69D-CC2A-8D27-9FB1-5F74F87ED2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76F5ED2-A520-261D-A1C4-7EEBBB3EBD90}"/>
              </a:ext>
            </a:extLst>
          </p:cNvPr>
          <p:cNvGrpSpPr/>
          <p:nvPr/>
        </p:nvGrpSpPr>
        <p:grpSpPr>
          <a:xfrm>
            <a:off x="5824744" y="1557231"/>
            <a:ext cx="2697481" cy="1234440"/>
            <a:chOff x="89878" y="2889724"/>
            <a:chExt cx="2697481" cy="1234440"/>
          </a:xfrm>
        </p:grpSpPr>
        <p:sp>
          <p:nvSpPr>
            <p:cNvPr id="33" name="Rectangle 19"/>
            <p:cNvSpPr/>
            <p:nvPr/>
          </p:nvSpPr>
          <p:spPr>
            <a:xfrm>
              <a:off x="89879" y="2889724"/>
              <a:ext cx="269748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20"/>
            <p:cNvSpPr/>
            <p:nvPr/>
          </p:nvSpPr>
          <p:spPr>
            <a:xfrm>
              <a:off x="89878" y="2889724"/>
              <a:ext cx="73152" cy="1234440"/>
            </a:xfrm>
            <a:prstGeom prst="rect">
              <a:avLst/>
            </a:prstGeom>
            <a:solidFill>
              <a:srgbClr val="ED7D31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54470" y="2999453"/>
              <a:ext cx="246888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가격</a:t>
              </a:r>
              <a:r>
                <a:rPr sz="1300" b="1" dirty="0">
                  <a:solidFill>
                    <a:srgbClr val="002060"/>
                  </a:solidFill>
                  <a:latin typeface="Pretendard" panose="02000503000000020004" pitchFamily="50" charset="-127"/>
                </a:rPr>
                <a:t> </a:t>
              </a:r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설정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4470" y="3365213"/>
              <a:ext cx="246888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상품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가격은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선택한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코인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단위로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입력합니다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.
예: Coffee = 0.01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tEth</a:t>
              </a:r>
              <a:endParaRPr sz="1100" dirty="0">
                <a:solidFill>
                  <a:srgbClr val="1A1A2E"/>
                </a:solidFill>
                <a:latin typeface="Pretendard" panose="02000503000000020004" pitchFamily="50" charset="-127"/>
              </a:endParaRPr>
            </a:p>
          </p:txBody>
        </p:sp>
      </p:grpSp>
      <p:pic>
        <p:nvPicPr>
          <p:cNvPr id="40" name="Picture 27" descr="유저메뉴얼_사진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265" y="1557231"/>
            <a:ext cx="2201941" cy="4790563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3CBEA5CB-8C19-B8FF-26CC-BC9D9B3ED48C}"/>
              </a:ext>
            </a:extLst>
          </p:cNvPr>
          <p:cNvGrpSpPr/>
          <p:nvPr/>
        </p:nvGrpSpPr>
        <p:grpSpPr>
          <a:xfrm>
            <a:off x="407831" y="1557231"/>
            <a:ext cx="2697481" cy="1234440"/>
            <a:chOff x="89878" y="1518124"/>
            <a:chExt cx="2697481" cy="1234440"/>
          </a:xfrm>
        </p:grpSpPr>
        <p:sp>
          <p:nvSpPr>
            <p:cNvPr id="47" name="Rectangle 11"/>
            <p:cNvSpPr/>
            <p:nvPr/>
          </p:nvSpPr>
          <p:spPr>
            <a:xfrm>
              <a:off x="89879" y="1518124"/>
              <a:ext cx="269748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2"/>
            <p:cNvSpPr/>
            <p:nvPr/>
          </p:nvSpPr>
          <p:spPr>
            <a:xfrm>
              <a:off x="89878" y="1518124"/>
              <a:ext cx="73152" cy="1234440"/>
            </a:xfrm>
            <a:prstGeom prst="rect">
              <a:avLst/>
            </a:prstGeom>
            <a:solidFill>
              <a:srgbClr val="ED7D31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4470" y="1627852"/>
              <a:ext cx="246888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상품</a:t>
              </a:r>
              <a:r>
                <a:rPr sz="1300" b="1" dirty="0">
                  <a:solidFill>
                    <a:srgbClr val="002060"/>
                  </a:solidFill>
                  <a:latin typeface="Pretendard" panose="02000503000000020004" pitchFamily="50" charset="-127"/>
                </a:rPr>
                <a:t> </a:t>
              </a:r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목록</a:t>
              </a:r>
              <a:r>
                <a:rPr sz="1300" b="1" dirty="0">
                  <a:solidFill>
                    <a:srgbClr val="002060"/>
                  </a:solidFill>
                  <a:latin typeface="Pretendard" panose="02000503000000020004" pitchFamily="50" charset="-127"/>
                </a:rPr>
                <a:t> </a:t>
              </a:r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조회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54470" y="1993614"/>
              <a:ext cx="246888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등록된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상품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리스트를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확인합니다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.
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코인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종류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및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네트워크로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필터링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가능합니다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.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9881A25-B86E-19AA-876A-F151FBCCC677}"/>
              </a:ext>
            </a:extLst>
          </p:cNvPr>
          <p:cNvGrpSpPr/>
          <p:nvPr/>
        </p:nvGrpSpPr>
        <p:grpSpPr>
          <a:xfrm>
            <a:off x="407831" y="2978008"/>
            <a:ext cx="2697481" cy="1234440"/>
            <a:chOff x="2924518" y="1518124"/>
            <a:chExt cx="2697481" cy="1234440"/>
          </a:xfrm>
        </p:grpSpPr>
        <p:sp>
          <p:nvSpPr>
            <p:cNvPr id="52" name="Rectangle 15"/>
            <p:cNvSpPr/>
            <p:nvPr/>
          </p:nvSpPr>
          <p:spPr>
            <a:xfrm>
              <a:off x="2924519" y="1518124"/>
              <a:ext cx="269748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6"/>
            <p:cNvSpPr/>
            <p:nvPr/>
          </p:nvSpPr>
          <p:spPr>
            <a:xfrm>
              <a:off x="2924518" y="1518124"/>
              <a:ext cx="73152" cy="1234440"/>
            </a:xfrm>
            <a:prstGeom prst="rect">
              <a:avLst/>
            </a:prstGeom>
            <a:solidFill>
              <a:srgbClr val="ED7D31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089110" y="1627852"/>
              <a:ext cx="246888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상품</a:t>
              </a:r>
              <a:r>
                <a:rPr sz="1300" b="1" dirty="0">
                  <a:solidFill>
                    <a:srgbClr val="002060"/>
                  </a:solidFill>
                  <a:latin typeface="Pretendard" panose="02000503000000020004" pitchFamily="50" charset="-127"/>
                </a:rPr>
                <a:t> </a:t>
              </a:r>
              <a:r>
                <a:rPr sz="1300" b="1" dirty="0" err="1">
                  <a:solidFill>
                    <a:srgbClr val="002060"/>
                  </a:solidFill>
                  <a:latin typeface="Pretendard" panose="02000503000000020004" pitchFamily="50" charset="-127"/>
                </a:rPr>
                <a:t>등록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089110" y="1993614"/>
              <a:ext cx="246888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'Register'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버튼으로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새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상품을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등록합니다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.
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이름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,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가격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,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코인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,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체인을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 </a:t>
              </a:r>
              <a:r>
                <a:rPr sz="1100" dirty="0" err="1">
                  <a:solidFill>
                    <a:srgbClr val="1A1A2E"/>
                  </a:solidFill>
                  <a:latin typeface="Pretendard" panose="02000503000000020004" pitchFamily="50" charset="-127"/>
                </a:rPr>
                <a:t>설정합니다</a:t>
              </a:r>
              <a:r>
                <a:rPr sz="1100" dirty="0">
                  <a:solidFill>
                    <a:srgbClr val="1A1A2E"/>
                  </a:solidFill>
                  <a:latin typeface="Pretendard" panose="02000503000000020004" pitchFamily="50" charset="-127"/>
                </a:rPr>
                <a:t>.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1CCED17-F6C4-96E6-1CE6-6E6376D1671A}"/>
              </a:ext>
            </a:extLst>
          </p:cNvPr>
          <p:cNvGrpSpPr/>
          <p:nvPr/>
        </p:nvGrpSpPr>
        <p:grpSpPr>
          <a:xfrm>
            <a:off x="407832" y="4322176"/>
            <a:ext cx="2697481" cy="1234440"/>
            <a:chOff x="89878" y="2889724"/>
            <a:chExt cx="2697481" cy="1234440"/>
          </a:xfrm>
        </p:grpSpPr>
        <p:sp>
          <p:nvSpPr>
            <p:cNvPr id="57" name="Rectangle 19">
              <a:extLst>
                <a:ext uri="{FF2B5EF4-FFF2-40B4-BE49-F238E27FC236}">
                  <a16:creationId xmlns:a16="http://schemas.microsoft.com/office/drawing/2014/main" id="{9ECAAF88-008F-9097-5C3E-2C770EECDFB1}"/>
                </a:ext>
              </a:extLst>
            </p:cNvPr>
            <p:cNvSpPr/>
            <p:nvPr/>
          </p:nvSpPr>
          <p:spPr>
            <a:xfrm>
              <a:off x="89879" y="2889724"/>
              <a:ext cx="269748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20">
              <a:extLst>
                <a:ext uri="{FF2B5EF4-FFF2-40B4-BE49-F238E27FC236}">
                  <a16:creationId xmlns:a16="http://schemas.microsoft.com/office/drawing/2014/main" id="{DC61EDE6-6653-DA1A-AE89-63A269C682E4}"/>
                </a:ext>
              </a:extLst>
            </p:cNvPr>
            <p:cNvSpPr/>
            <p:nvPr/>
          </p:nvSpPr>
          <p:spPr>
            <a:xfrm>
              <a:off x="89878" y="2889724"/>
              <a:ext cx="73152" cy="1234440"/>
            </a:xfrm>
            <a:prstGeom prst="rect">
              <a:avLst/>
            </a:prstGeom>
            <a:solidFill>
              <a:srgbClr val="ED7D31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2EA7518-20FA-0327-D7C8-FC83F416667C}"/>
                </a:ext>
              </a:extLst>
            </p:cNvPr>
            <p:cNvSpPr txBox="1"/>
            <p:nvPr/>
          </p:nvSpPr>
          <p:spPr>
            <a:xfrm>
              <a:off x="254470" y="2999453"/>
              <a:ext cx="246888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3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상품 구매</a:t>
              </a:r>
              <a:endParaRPr sz="1300" b="1" dirty="0">
                <a:solidFill>
                  <a:srgbClr val="002060"/>
                </a:solidFill>
                <a:latin typeface="Pretendard" panose="02000503000000020004" pitchFamily="50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931B07-A477-488F-F7CF-23135DE483B6}"/>
                </a:ext>
              </a:extLst>
            </p:cNvPr>
            <p:cNvSpPr txBox="1"/>
            <p:nvPr/>
          </p:nvSpPr>
          <p:spPr>
            <a:xfrm>
              <a:off x="254470" y="3365213"/>
              <a:ext cx="246888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100" dirty="0">
                  <a:solidFill>
                    <a:srgbClr val="1A1A2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상품 클릭 시 구매 내역과 결제를 테스트 </a:t>
              </a:r>
              <a:r>
                <a:rPr lang="en-US" altLang="ko-KR" sz="1100" dirty="0">
                  <a:solidFill>
                    <a:srgbClr val="1A1A2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pay now </a:t>
              </a:r>
              <a:r>
                <a:rPr lang="ko-KR" altLang="en-US" sz="1100" dirty="0">
                  <a:solidFill>
                    <a:srgbClr val="1A1A2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버튼이 표시됩니다</a:t>
              </a:r>
              <a:r>
                <a:rPr lang="en-US" altLang="ko-KR" sz="1100" dirty="0">
                  <a:solidFill>
                    <a:srgbClr val="1A1A2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.</a:t>
              </a:r>
            </a:p>
          </p:txBody>
        </p:sp>
      </p:grpSp>
      <p:pic>
        <p:nvPicPr>
          <p:cNvPr id="61" name="Picture 28" descr="유저메뉴얼_사진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809" y="1575072"/>
            <a:ext cx="217290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581" y="914401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구매자는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두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가지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방법으로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결제를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진행할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 수 </a:t>
            </a:r>
            <a:r>
              <a:rPr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있습니다</a:t>
            </a:r>
            <a:r>
              <a:rPr sz="13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" y="1371601"/>
            <a:ext cx="2834640" cy="1371600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020" y="1417321"/>
            <a:ext cx="2651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방법</a:t>
            </a:r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 1: Connect Wallet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" y="1783082"/>
            <a:ext cx="2651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지갑을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연결하고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'Pay'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버튼으로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결제를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승인합니다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.
MetaMask 등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WalletConnect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지원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지갑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사용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" y="2834641"/>
            <a:ext cx="2834640" cy="1371600"/>
          </a:xfrm>
          <a:prstGeom prst="rect">
            <a:avLst/>
          </a:prstGeom>
          <a:solidFill>
            <a:srgbClr val="4472C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" y="2880361"/>
            <a:ext cx="2651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방법</a:t>
            </a:r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 2: QR / </a:t>
            </a:r>
            <a:r>
              <a:rPr sz="13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주소</a:t>
            </a:r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직접</a:t>
            </a:r>
            <a:r>
              <a:rPr sz="1300" b="1" dirty="0">
                <a:solidFill>
                  <a:srgbClr val="ED7D31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ED7D31"/>
                </a:solidFill>
                <a:latin typeface="Pretendard" panose="02000503000000020004" pitchFamily="50" charset="-127"/>
              </a:rPr>
              <a:t>입금</a:t>
            </a:r>
            <a:endParaRPr sz="1300" b="1" dirty="0">
              <a:solidFill>
                <a:srgbClr val="ED7D31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" y="3246121"/>
            <a:ext cx="26517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QR코드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스캔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또는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주소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복사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후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직접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전송합니다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.
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어떤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지갑에서도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사용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가능합니다</a:t>
            </a:r>
            <a:r>
              <a:rPr sz="1100" dirty="0">
                <a:solidFill>
                  <a:srgbClr val="FFFFFF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3589020" y="1325880"/>
            <a:ext cx="594360" cy="5943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" panose="02000503000000020004" pitchFamily="50" charset="-127"/>
              </a:rPr>
              <a:t>1</a:t>
            </a:r>
          </a:p>
        </p:txBody>
      </p:sp>
      <p:cxnSp>
        <p:nvCxnSpPr>
          <p:cNvPr id="19" name="Connector 18"/>
          <p:cNvCxnSpPr>
            <a:cxnSpLocks/>
            <a:stCxn id="18" idx="6"/>
            <a:endCxn id="22" idx="2"/>
          </p:cNvCxnSpPr>
          <p:nvPr/>
        </p:nvCxnSpPr>
        <p:spPr>
          <a:xfrm>
            <a:off x="4183380" y="1623060"/>
            <a:ext cx="1097280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40379" y="1993394"/>
            <a:ext cx="164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주문</a:t>
            </a:r>
            <a:r>
              <a:rPr sz="12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생성</a:t>
            </a:r>
            <a:endParaRPr sz="12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0379" y="2313434"/>
            <a:ext cx="16459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SDK가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API에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주문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생성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요청</a:t>
            </a:r>
            <a:endParaRPr sz="10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280660" y="1325880"/>
            <a:ext cx="594360" cy="5943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" panose="02000503000000020004" pitchFamily="50" charset="-127"/>
              </a:rPr>
              <a:t>2</a:t>
            </a:r>
          </a:p>
        </p:txBody>
      </p:sp>
      <p:cxnSp>
        <p:nvCxnSpPr>
          <p:cNvPr id="23" name="Connector 22"/>
          <p:cNvCxnSpPr>
            <a:cxnSpLocks/>
            <a:stCxn id="22" idx="6"/>
            <a:endCxn id="26" idx="2"/>
          </p:cNvCxnSpPr>
          <p:nvPr/>
        </p:nvCxnSpPr>
        <p:spPr>
          <a:xfrm>
            <a:off x="5875020" y="1623060"/>
            <a:ext cx="1097281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32020" y="1993394"/>
            <a:ext cx="164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지갑</a:t>
            </a:r>
            <a:r>
              <a:rPr sz="12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할당</a:t>
            </a:r>
            <a:endParaRPr sz="12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32020" y="2313434"/>
            <a:ext cx="1645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시스템이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전용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지갑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주소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자동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할당</a:t>
            </a:r>
            <a:endParaRPr sz="10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972301" y="1325880"/>
            <a:ext cx="594360" cy="5943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" panose="02000503000000020004" pitchFamily="50" charset="-127"/>
              </a:rPr>
              <a:t>3</a:t>
            </a:r>
          </a:p>
        </p:txBody>
      </p:sp>
      <p:cxnSp>
        <p:nvCxnSpPr>
          <p:cNvPr id="27" name="Connector 26"/>
          <p:cNvCxnSpPr>
            <a:cxnSpLocks/>
            <a:stCxn id="26" idx="6"/>
            <a:endCxn id="30" idx="2"/>
          </p:cNvCxnSpPr>
          <p:nvPr/>
        </p:nvCxnSpPr>
        <p:spPr>
          <a:xfrm>
            <a:off x="7566661" y="1623060"/>
            <a:ext cx="1097279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23659" y="1993394"/>
            <a:ext cx="164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결제</a:t>
            </a:r>
            <a:r>
              <a:rPr sz="12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진입</a:t>
            </a:r>
            <a:endParaRPr sz="12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23659" y="2313434"/>
            <a:ext cx="16459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구매자에게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결제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페이지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표시</a:t>
            </a:r>
            <a:endParaRPr sz="10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663940" y="1325880"/>
            <a:ext cx="594360" cy="5943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" panose="02000503000000020004" pitchFamily="50" charset="-127"/>
              </a:rPr>
              <a:t>4</a:t>
            </a:r>
          </a:p>
        </p:txBody>
      </p:sp>
      <p:cxnSp>
        <p:nvCxnSpPr>
          <p:cNvPr id="31" name="Connector 30"/>
          <p:cNvCxnSpPr>
            <a:cxnSpLocks/>
            <a:stCxn id="30" idx="6"/>
            <a:endCxn id="34" idx="2"/>
          </p:cNvCxnSpPr>
          <p:nvPr/>
        </p:nvCxnSpPr>
        <p:spPr>
          <a:xfrm>
            <a:off x="9258300" y="1623060"/>
            <a:ext cx="1097281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15300" y="1993394"/>
            <a:ext cx="164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결제</a:t>
            </a:r>
            <a:r>
              <a:rPr sz="12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감지</a:t>
            </a:r>
            <a:endParaRPr sz="12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15300" y="2313434"/>
            <a:ext cx="1645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블록체인에서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입금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실시간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감지</a:t>
            </a:r>
            <a:endParaRPr sz="10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355581" y="1325880"/>
            <a:ext cx="594360" cy="5943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" panose="02000503000000020004" pitchFamily="50" charset="-127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6939" y="1993394"/>
            <a:ext cx="164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완료</a:t>
            </a:r>
            <a:r>
              <a:rPr sz="12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처리</a:t>
            </a:r>
            <a:endParaRPr sz="12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06939" y="2313434"/>
            <a:ext cx="16459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컨펌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완료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후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결제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성공</a:t>
            </a:r>
            <a:r>
              <a:rPr sz="10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0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처리</a:t>
            </a:r>
            <a:endParaRPr sz="10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pic>
        <p:nvPicPr>
          <p:cNvPr id="37" name="Picture 36" descr="결제진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940" y="2880361"/>
            <a:ext cx="2811440" cy="3200400"/>
          </a:xfrm>
          <a:prstGeom prst="rect">
            <a:avLst/>
          </a:prstGeom>
        </p:spPr>
      </p:pic>
      <p:pic>
        <p:nvPicPr>
          <p:cNvPr id="38" name="Picture 37" descr="결제대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082" y="2880361"/>
            <a:ext cx="1706325" cy="3200400"/>
          </a:xfrm>
          <a:prstGeom prst="rect">
            <a:avLst/>
          </a:prstGeom>
        </p:spPr>
      </p:pic>
      <p:pic>
        <p:nvPicPr>
          <p:cNvPr id="39" name="Picture 38" descr="등록된_커피결제아이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589" y="2880361"/>
            <a:ext cx="1879092" cy="3200400"/>
          </a:xfrm>
          <a:prstGeom prst="rect">
            <a:avLst/>
          </a:prstGeom>
        </p:spPr>
      </p:pic>
      <p:sp>
        <p:nvSpPr>
          <p:cNvPr id="40" name="내용 개체 틀 39">
            <a:extLst>
              <a:ext uri="{FF2B5EF4-FFF2-40B4-BE49-F238E27FC236}">
                <a16:creationId xmlns:a16="http://schemas.microsoft.com/office/drawing/2014/main" id="{852F0416-BCBE-1D5E-E81D-68164CA267E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  <a:p>
            <a:endParaRPr lang="en-US" dirty="0"/>
          </a:p>
        </p:txBody>
      </p:sp>
      <p:sp>
        <p:nvSpPr>
          <p:cNvPr id="41" name="내용 개체 틀 40">
            <a:extLst>
              <a:ext uri="{FF2B5EF4-FFF2-40B4-BE49-F238E27FC236}">
                <a16:creationId xmlns:a16="http://schemas.microsoft.com/office/drawing/2014/main" id="{5C73B127-33FA-DDF2-0E42-2F142C0730A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결제 진행</a:t>
            </a:r>
            <a:endParaRPr lang="en-US" dirty="0"/>
          </a:p>
        </p:txBody>
      </p:sp>
      <p:sp>
        <p:nvSpPr>
          <p:cNvPr id="42" name="내용 개체 틀 41">
            <a:extLst>
              <a:ext uri="{FF2B5EF4-FFF2-40B4-BE49-F238E27FC236}">
                <a16:creationId xmlns:a16="http://schemas.microsoft.com/office/drawing/2014/main" id="{44DC3D3F-277E-B8E3-B366-4A91976FD70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결제 방법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8CB498-F248-7F57-6846-4AEA41FCCF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53" name="Google Shape;208;p28">
            <a:extLst>
              <a:ext uri="{FF2B5EF4-FFF2-40B4-BE49-F238E27FC236}">
                <a16:creationId xmlns:a16="http://schemas.microsoft.com/office/drawing/2014/main" id="{32B2DE51-2796-5D3D-9C76-6723492BAEC8}"/>
              </a:ext>
            </a:extLst>
          </p:cNvPr>
          <p:cNvSpPr/>
          <p:nvPr/>
        </p:nvSpPr>
        <p:spPr>
          <a:xfrm>
            <a:off x="9908846" y="2820787"/>
            <a:ext cx="1589735" cy="3319548"/>
          </a:xfrm>
          <a:prstGeom prst="roundRect">
            <a:avLst>
              <a:gd name="adj" fmla="val 13192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11481" y="1186645"/>
            <a:ext cx="64009" cy="292608"/>
          </a:xfrm>
          <a:prstGeom prst="rect">
            <a:avLst/>
          </a:prstGeom>
          <a:solidFill>
            <a:srgbClr val="ED7D3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9" y="1095204"/>
            <a:ext cx="5029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사용자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9" y="1415246"/>
            <a:ext cx="50292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시스템이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자동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부여하는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고유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ID
예: USER_00000000011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1" y="1991316"/>
            <a:ext cx="64009" cy="292608"/>
          </a:xfrm>
          <a:prstGeom prst="rect">
            <a:avLst/>
          </a:prstGeom>
          <a:solidFill>
            <a:srgbClr val="ED7D3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9" y="1899876"/>
            <a:ext cx="5029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이메일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/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연락처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9" y="2219917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이메일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및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전화번호를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등록하여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알림을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수신합니다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1" y="2795988"/>
            <a:ext cx="64009" cy="292608"/>
          </a:xfrm>
          <a:prstGeom prst="rect">
            <a:avLst/>
          </a:prstGeom>
          <a:solidFill>
            <a:srgbClr val="ED7D3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9" y="2704548"/>
            <a:ext cx="5029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국가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/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기준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통화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9" y="3024589"/>
            <a:ext cx="50292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국가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및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기준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통화를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설정합니다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.
예: United States of America / USD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1" y="3600661"/>
            <a:ext cx="64009" cy="292608"/>
          </a:xfrm>
          <a:prstGeom prst="rect">
            <a:avLst/>
          </a:prstGeom>
          <a:solidFill>
            <a:srgbClr val="ED7D3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9" y="3509221"/>
            <a:ext cx="5029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KYC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인증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9" y="3829262"/>
            <a:ext cx="50292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신원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인증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(KYC)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완료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시 Verified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배지가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표시됩니다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.
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출금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및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고액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거래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시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KYC가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필요합니다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1" y="4405333"/>
            <a:ext cx="64009" cy="292608"/>
          </a:xfrm>
          <a:prstGeom prst="rect">
            <a:avLst/>
          </a:prstGeom>
          <a:solidFill>
            <a:srgbClr val="ED7D3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9" y="4313892"/>
            <a:ext cx="5029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은행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인증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9" y="4633934"/>
            <a:ext cx="50292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Bank Auth State: Verified
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금융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서비스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연동을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위한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은행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인증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상태입니다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1" y="5210005"/>
            <a:ext cx="64009" cy="292608"/>
          </a:xfrm>
          <a:prstGeom prst="rect">
            <a:avLst/>
          </a:prstGeom>
          <a:solidFill>
            <a:srgbClr val="ED7D3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9" y="5118564"/>
            <a:ext cx="5029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등급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(Grade)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9" y="5438605"/>
            <a:ext cx="5029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사용자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등급에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따라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서비스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한도가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 </a:t>
            </a:r>
            <a:r>
              <a:rPr sz="11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결정됩니다</a:t>
            </a:r>
            <a:r>
              <a:rPr sz="1100" dirty="0">
                <a:solidFill>
                  <a:srgbClr val="1A1A2E"/>
                </a:solidFill>
                <a:latin typeface="Pretendard" panose="02000503000000020004" pitchFamily="50" charset="-127"/>
              </a:rPr>
              <a:t>.</a:t>
            </a:r>
          </a:p>
        </p:txBody>
      </p:sp>
      <p:pic>
        <p:nvPicPr>
          <p:cNvPr id="29" name="Picture 28" descr="유저메뉴얼_사진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2" y="1005840"/>
            <a:ext cx="2439976" cy="5303520"/>
          </a:xfrm>
          <a:prstGeom prst="rect">
            <a:avLst/>
          </a:prstGeom>
        </p:spPr>
      </p:pic>
      <p:sp>
        <p:nvSpPr>
          <p:cNvPr id="30" name="내용 개체 틀 29">
            <a:extLst>
              <a:ext uri="{FF2B5EF4-FFF2-40B4-BE49-F238E27FC236}">
                <a16:creationId xmlns:a16="http://schemas.microsoft.com/office/drawing/2014/main" id="{7C1C6162-88C4-BDAD-64B8-36D742FAA43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  <a:p>
            <a:endParaRPr lang="en-US" dirty="0"/>
          </a:p>
        </p:txBody>
      </p:sp>
      <p:sp>
        <p:nvSpPr>
          <p:cNvPr id="31" name="내용 개체 틀 30">
            <a:extLst>
              <a:ext uri="{FF2B5EF4-FFF2-40B4-BE49-F238E27FC236}">
                <a16:creationId xmlns:a16="http://schemas.microsoft.com/office/drawing/2014/main" id="{9FA0B472-E53A-1C96-ACEB-ABAD62A4FB5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프로필</a:t>
            </a:r>
            <a:endParaRPr lang="en-US" dirty="0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D2A2C423-BCBA-4DFA-7AA7-FDA42E793C1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고객정보 수정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59469B-DE9C-4629-281A-25A8126ABB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47473" y="1108425"/>
            <a:ext cx="5943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dirty="0" err="1">
                <a:solidFill>
                  <a:srgbClr val="1A1A2E"/>
                </a:solidFill>
                <a:latin typeface="Pretendard" panose="02000503000000020004" pitchFamily="50" charset="-127"/>
              </a:rPr>
              <a:t>Npm</a:t>
            </a:r>
            <a:r>
              <a:rPr lang="ko-KR" altLang="en-US" sz="13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라이브러리를 통해 결제 모듈을 연동할 수 있습니다</a:t>
            </a:r>
            <a:r>
              <a:rPr lang="en-US" altLang="ko-KR" sz="13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</a:p>
          <a:p>
            <a:pPr algn="l"/>
            <a:r>
              <a:rPr lang="ko-KR" altLang="en-US" sz="13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자세한 설정방법은 </a:t>
            </a:r>
            <a:r>
              <a:rPr lang="en-US" altLang="ko-KR" sz="13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document </a:t>
            </a:r>
            <a:r>
              <a:rPr lang="ko-KR" altLang="en-US" sz="13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페이지를 </a:t>
            </a:r>
            <a:r>
              <a:rPr lang="ko-KR" altLang="en-US" sz="13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참고해야합니다</a:t>
            </a:r>
            <a:r>
              <a:rPr lang="en-US" altLang="ko-KR" sz="13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sz="1300" dirty="0">
              <a:solidFill>
                <a:srgbClr val="1A1A2E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93523" y="1667765"/>
            <a:ext cx="365759" cy="36575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Pretendard" panose="02000503000000020004" pitchFamily="50" charset="-127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696212"/>
            <a:ext cx="380060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패키지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설치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 —  @dj-test/payment-sdk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1972"/>
            <a:ext cx="5303520" cy="59436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npm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 install @dj-test/payment-sdk</a:t>
            </a:r>
          </a:p>
        </p:txBody>
      </p:sp>
      <p:sp>
        <p:nvSpPr>
          <p:cNvPr id="15" name="Oval 14"/>
          <p:cNvSpPr/>
          <p:nvPr/>
        </p:nvSpPr>
        <p:spPr>
          <a:xfrm>
            <a:off x="493523" y="2765045"/>
            <a:ext cx="365759" cy="36575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Pretendard" panose="02000503000000020004" pitchFamily="50" charset="-127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793493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SDK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초기화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 — 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PayClient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생성</a:t>
            </a:r>
            <a:endParaRPr sz="1300" b="1" dirty="0">
              <a:solidFill>
                <a:srgbClr val="002060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3159252"/>
            <a:ext cx="5303520" cy="59436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import { 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PayClient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 } from '@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dj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-test/payment-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sdk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'
const client = new 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PayClient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()</a:t>
            </a:r>
          </a:p>
        </p:txBody>
      </p:sp>
      <p:sp>
        <p:nvSpPr>
          <p:cNvPr id="18" name="Oval 17"/>
          <p:cNvSpPr/>
          <p:nvPr/>
        </p:nvSpPr>
        <p:spPr>
          <a:xfrm>
            <a:off x="493523" y="3862325"/>
            <a:ext cx="365759" cy="36575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Pretendard" panose="02000503000000020004" pitchFamily="50" charset="-127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890773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주문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생성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 — 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createOrder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6531"/>
            <a:ext cx="5303520" cy="59436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await 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client.createOrder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({ 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productId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, amount, coin: '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tEth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' })</a:t>
            </a:r>
          </a:p>
        </p:txBody>
      </p:sp>
      <p:sp>
        <p:nvSpPr>
          <p:cNvPr id="21" name="Oval 20"/>
          <p:cNvSpPr/>
          <p:nvPr/>
        </p:nvSpPr>
        <p:spPr>
          <a:xfrm>
            <a:off x="493523" y="4959605"/>
            <a:ext cx="365759" cy="36575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Pretendard" panose="02000503000000020004" pitchFamily="50" charset="-127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988052"/>
            <a:ext cx="43911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결제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페이지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  —  </a:t>
            </a:r>
            <a:r>
              <a:rPr sz="1300" b="1" dirty="0" err="1">
                <a:solidFill>
                  <a:srgbClr val="002060"/>
                </a:solidFill>
                <a:latin typeface="Pretendard" panose="02000503000000020004" pitchFamily="50" charset="-127"/>
              </a:rPr>
              <a:t>openPaymentModal</a:t>
            </a:r>
            <a:r>
              <a:rPr sz="1300" b="1" dirty="0">
                <a:solidFill>
                  <a:srgbClr val="002060"/>
                </a:solidFill>
                <a:latin typeface="Pretendard" panose="02000503000000020004" pitchFamily="50" charset="-127"/>
              </a:rPr>
              <a:t>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53812"/>
            <a:ext cx="5303520" cy="59436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client.openPaymentModal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({ 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orderId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, 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onSuccess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, </a:t>
            </a:r>
            <a:r>
              <a:rPr sz="1000" dirty="0" err="1">
                <a:solidFill>
                  <a:srgbClr val="00DDAA"/>
                </a:solidFill>
                <a:latin typeface="Pretendard" panose="02000503000000020004" pitchFamily="50" charset="-127"/>
              </a:rPr>
              <a:t>onCancel</a:t>
            </a:r>
            <a:r>
              <a:rPr sz="1000" dirty="0">
                <a:solidFill>
                  <a:srgbClr val="00DDAA"/>
                </a:solidFill>
                <a:latin typeface="Pretendard" panose="02000503000000020004" pitchFamily="50" charset="-127"/>
              </a:rPr>
              <a:t> })</a:t>
            </a:r>
          </a:p>
        </p:txBody>
      </p:sp>
      <p:pic>
        <p:nvPicPr>
          <p:cNvPr id="24" name="Picture 23" descr="docs_시스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2061972"/>
            <a:ext cx="5605932" cy="2709055"/>
          </a:xfrm>
          <a:prstGeom prst="rect">
            <a:avLst/>
          </a:prstGeom>
        </p:spPr>
      </p:pic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1FA42B2-BDB6-12EC-6A13-95541B1AC9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manual</a:t>
            </a:r>
          </a:p>
          <a:p>
            <a:endParaRPr lang="en-US" dirty="0"/>
          </a:p>
        </p:txBody>
      </p:sp>
      <p:sp>
        <p:nvSpPr>
          <p:cNvPr id="26" name="내용 개체 틀 25">
            <a:extLst>
              <a:ext uri="{FF2B5EF4-FFF2-40B4-BE49-F238E27FC236}">
                <a16:creationId xmlns:a16="http://schemas.microsoft.com/office/drawing/2014/main" id="{B1325FB5-92AC-D244-70D6-47C89CAB87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 err="1"/>
              <a:t>Sdk</a:t>
            </a:r>
            <a:r>
              <a:rPr lang="ko-KR" altLang="en-US" dirty="0"/>
              <a:t> 연동 방법</a:t>
            </a:r>
            <a:endParaRPr lang="en-US" dirty="0"/>
          </a:p>
        </p:txBody>
      </p:sp>
      <p:sp>
        <p:nvSpPr>
          <p:cNvPr id="27" name="내용 개체 틀 26">
            <a:extLst>
              <a:ext uri="{FF2B5EF4-FFF2-40B4-BE49-F238E27FC236}">
                <a16:creationId xmlns:a16="http://schemas.microsoft.com/office/drawing/2014/main" id="{69AD99C1-FE24-6711-CA1E-E18EBECDE9E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Sdk</a:t>
            </a:r>
            <a:r>
              <a:rPr lang="ko-KR" altLang="en-US" dirty="0"/>
              <a:t> 연동 및 </a:t>
            </a:r>
            <a:r>
              <a:rPr lang="en-US" altLang="ko-KR" dirty="0"/>
              <a:t>document </a:t>
            </a:r>
            <a:r>
              <a:rPr lang="ko-KR" altLang="en-US" dirty="0"/>
              <a:t>페이지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F04919D-6294-C03C-C30A-66661E350A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34425C-B3F7-A03D-A349-150DB455E60B}"/>
              </a:ext>
            </a:extLst>
          </p:cNvPr>
          <p:cNvSpPr txBox="1"/>
          <p:nvPr/>
        </p:nvSpPr>
        <p:spPr>
          <a:xfrm>
            <a:off x="5751702" y="4903414"/>
            <a:ext cx="594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5A5A5"/>
                </a:solidFill>
                <a:latin typeface="Pretendard" panose="02000503000000020004" pitchFamily="50" charset="-127"/>
              </a:rPr>
              <a:t>Document </a:t>
            </a:r>
            <a:r>
              <a:rPr lang="ko-KR" altLang="en-US" sz="900" dirty="0">
                <a:solidFill>
                  <a:srgbClr val="A5A5A5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페이지 화면</a:t>
            </a:r>
            <a:endParaRPr sz="900" dirty="0">
              <a:solidFill>
                <a:srgbClr val="A5A5A5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74519" y="1371601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 err="1">
                <a:latin typeface="Pretendard" panose="02000503000000020004" pitchFamily="50" charset="-127"/>
              </a:rPr>
              <a:t>감사합니다</a:t>
            </a:r>
            <a:endParaRPr sz="4400" b="1" dirty="0">
              <a:latin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74519" y="2103121"/>
            <a:ext cx="8229600" cy="52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1" dirty="0">
                <a:latin typeface="Pretendard" panose="02000503000000020004" pitchFamily="50" charset="-127"/>
              </a:rPr>
              <a:t>Thank You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194559" y="2834640"/>
            <a:ext cx="7589520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519" y="3017521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dirty="0" err="1">
                <a:latin typeface="Pretendard" panose="02000503000000020004" pitchFamily="50" charset="-127"/>
              </a:rPr>
              <a:t>GeyserPayment</a:t>
            </a:r>
            <a:r>
              <a:rPr sz="1500" dirty="0">
                <a:latin typeface="Pretendard" panose="02000503000000020004" pitchFamily="50" charset="-127"/>
              </a:rPr>
              <a:t> System  |  </a:t>
            </a:r>
            <a:r>
              <a:rPr sz="1500" dirty="0" err="1">
                <a:latin typeface="Pretendard" panose="02000503000000020004" pitchFamily="50" charset="-127"/>
              </a:rPr>
              <a:t>블록체인</a:t>
            </a:r>
            <a:r>
              <a:rPr sz="1500" dirty="0">
                <a:latin typeface="Pretendard" panose="02000503000000020004" pitchFamily="50" charset="-127"/>
              </a:rPr>
              <a:t> </a:t>
            </a:r>
            <a:r>
              <a:rPr sz="1500" dirty="0" err="1">
                <a:latin typeface="Pretendard" panose="02000503000000020004" pitchFamily="50" charset="-127"/>
              </a:rPr>
              <a:t>기반</a:t>
            </a:r>
            <a:r>
              <a:rPr sz="1500" dirty="0">
                <a:latin typeface="Pretendard" panose="02000503000000020004" pitchFamily="50" charset="-127"/>
              </a:rPr>
              <a:t> </a:t>
            </a:r>
            <a:r>
              <a:rPr sz="1500" dirty="0" err="1">
                <a:latin typeface="Pretendard" panose="02000503000000020004" pitchFamily="50" charset="-127"/>
              </a:rPr>
              <a:t>통합</a:t>
            </a:r>
            <a:r>
              <a:rPr sz="1500" dirty="0">
                <a:latin typeface="Pretendard" panose="02000503000000020004" pitchFamily="50" charset="-127"/>
              </a:rPr>
              <a:t> </a:t>
            </a:r>
            <a:r>
              <a:rPr sz="1500" dirty="0" err="1">
                <a:latin typeface="Pretendard" panose="02000503000000020004" pitchFamily="50" charset="-127"/>
              </a:rPr>
              <a:t>결제</a:t>
            </a:r>
            <a:r>
              <a:rPr sz="1500" dirty="0">
                <a:latin typeface="Pretendard" panose="02000503000000020004" pitchFamily="50" charset="-127"/>
              </a:rPr>
              <a:t> </a:t>
            </a:r>
            <a:r>
              <a:rPr sz="1500" dirty="0" err="1">
                <a:latin typeface="Pretendard" panose="02000503000000020004" pitchFamily="50" charset="-127"/>
              </a:rPr>
              <a:t>플랫폼</a:t>
            </a:r>
            <a:endParaRPr sz="1500" dirty="0">
              <a:latin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51053" y="3566161"/>
            <a:ext cx="1280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latin typeface="Pretendard" panose="02000503000000020004" pitchFamily="50" charset="-127"/>
              </a:rPr>
              <a:t>문서</a:t>
            </a:r>
            <a:endParaRPr sz="1200" b="1" dirty="0">
              <a:latin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53973" y="3566161"/>
            <a:ext cx="4480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latin typeface="Pretendard" panose="02000503000000020004" pitchFamily="50" charset="-127"/>
              </a:rPr>
              <a:t>Pay Docs  —  </a:t>
            </a:r>
            <a:r>
              <a:rPr sz="1200" dirty="0" err="1">
                <a:latin typeface="Pretendard" panose="02000503000000020004" pitchFamily="50" charset="-127"/>
              </a:rPr>
              <a:t>개발자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문서</a:t>
            </a:r>
            <a:r>
              <a:rPr sz="1200" dirty="0">
                <a:latin typeface="Pretendard" panose="02000503000000020004" pitchFamily="50" charset="-127"/>
              </a:rPr>
              <a:t> 및 API </a:t>
            </a:r>
            <a:r>
              <a:rPr sz="1200" dirty="0" err="1">
                <a:latin typeface="Pretendard" panose="02000503000000020004" pitchFamily="50" charset="-127"/>
              </a:rPr>
              <a:t>레퍼런스</a:t>
            </a:r>
            <a:endParaRPr sz="1200" dirty="0"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51053" y="4069081"/>
            <a:ext cx="1280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latin typeface="Pretendard" panose="02000503000000020004" pitchFamily="50" charset="-127"/>
              </a:rPr>
              <a:t>지원</a:t>
            </a:r>
            <a:endParaRPr sz="1200" b="1" dirty="0">
              <a:latin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53973" y="4069081"/>
            <a:ext cx="4480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 err="1">
                <a:latin typeface="Pretendard" panose="02000503000000020004" pitchFamily="50" charset="-127"/>
              </a:rPr>
              <a:t>고객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지원팀을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통해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기술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문의</a:t>
            </a:r>
            <a:r>
              <a:rPr sz="1200" dirty="0">
                <a:latin typeface="Pretendard" panose="02000503000000020004" pitchFamily="50" charset="-127"/>
              </a:rPr>
              <a:t> 및 </a:t>
            </a:r>
            <a:r>
              <a:rPr sz="1200" dirty="0" err="1">
                <a:latin typeface="Pretendard" panose="02000503000000020004" pitchFamily="50" charset="-127"/>
              </a:rPr>
              <a:t>계정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관련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지원을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받으세요</a:t>
            </a:r>
            <a:r>
              <a:rPr sz="1200" dirty="0"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1053" y="4572000"/>
            <a:ext cx="1280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latin typeface="Pretendard" panose="02000503000000020004" pitchFamily="50" charset="-127"/>
              </a:rPr>
              <a:t>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3973" y="4572000"/>
            <a:ext cx="4480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 err="1">
                <a:latin typeface="Pretendard" panose="02000503000000020004" pitchFamily="50" charset="-127"/>
              </a:rPr>
              <a:t>npm</a:t>
            </a:r>
            <a:r>
              <a:rPr sz="1200" dirty="0">
                <a:latin typeface="Pretendard" panose="02000503000000020004" pitchFamily="50" charset="-127"/>
              </a:rPr>
              <a:t>: @dj-test/payment-sdk  |  TypeScript </a:t>
            </a:r>
            <a:r>
              <a:rPr sz="1200" dirty="0" err="1">
                <a:latin typeface="Pretendard" panose="02000503000000020004" pitchFamily="50" charset="-127"/>
              </a:rPr>
              <a:t>완전</a:t>
            </a:r>
            <a:r>
              <a:rPr sz="1200" dirty="0">
                <a:latin typeface="Pretendard" panose="02000503000000020004" pitchFamily="50" charset="-127"/>
              </a:rPr>
              <a:t> </a:t>
            </a:r>
            <a:r>
              <a:rPr sz="1200" dirty="0" err="1">
                <a:latin typeface="Pretendard" panose="02000503000000020004" pitchFamily="50" charset="-127"/>
              </a:rPr>
              <a:t>지원</a:t>
            </a:r>
            <a:endParaRPr sz="1200" dirty="0"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51053" y="5074921"/>
            <a:ext cx="1280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latin typeface="Pretendard" panose="02000503000000020004" pitchFamily="50" charset="-127"/>
              </a:rPr>
              <a:t>지원</a:t>
            </a:r>
            <a:r>
              <a:rPr sz="1200" b="1" dirty="0">
                <a:latin typeface="Pretendard" panose="02000503000000020004" pitchFamily="50" charset="-127"/>
              </a:rPr>
              <a:t> </a:t>
            </a:r>
            <a:r>
              <a:rPr sz="1200" b="1" dirty="0" err="1">
                <a:latin typeface="Pretendard" panose="02000503000000020004" pitchFamily="50" charset="-127"/>
              </a:rPr>
              <a:t>네트워크</a:t>
            </a:r>
            <a:endParaRPr sz="1200" b="1" dirty="0">
              <a:latin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1352" y="5074921"/>
            <a:ext cx="4041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latin typeface="Pretendard" panose="02000503000000020004" pitchFamily="50" charset="-127"/>
              </a:rPr>
              <a:t>ERC-20 (</a:t>
            </a:r>
            <a:r>
              <a:rPr sz="1200" dirty="0" err="1">
                <a:latin typeface="Pretendard" panose="02000503000000020004" pitchFamily="50" charset="-127"/>
              </a:rPr>
              <a:t>speolia</a:t>
            </a:r>
            <a:r>
              <a:rPr sz="1200" dirty="0">
                <a:latin typeface="Pretendard" panose="02000503000000020004" pitchFamily="50" charset="-127"/>
              </a:rPr>
              <a:t> test net)  |  TRC-20 (TRON)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6126482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latin typeface="Pretendard" panose="02000503000000020004" pitchFamily="50" charset="-127"/>
              </a:rPr>
              <a:t>© 2026 </a:t>
            </a:r>
            <a:r>
              <a:rPr sz="1000" dirty="0" err="1">
                <a:latin typeface="Pretendard" panose="02000503000000020004" pitchFamily="50" charset="-127"/>
              </a:rPr>
              <a:t>GeyserSoft</a:t>
            </a:r>
            <a:r>
              <a:rPr sz="1000" dirty="0">
                <a:latin typeface="Pretendard" panose="02000503000000020004" pitchFamily="50" charset="-127"/>
              </a:rPr>
              <a:t>. All rights reserved.  |  User Manual v1.0</a:t>
            </a:r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FC6875D1-C5D2-5E86-0FDC-E41CD6B065C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finish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C3FD65-3A0B-EC8F-C2AB-F53A613598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1009</Words>
  <Application>Microsoft Office PowerPoint</Application>
  <PresentationFormat>사용자 지정</PresentationFormat>
  <Paragraphs>218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원 이</cp:lastModifiedBy>
  <cp:revision>20</cp:revision>
  <dcterms:created xsi:type="dcterms:W3CDTF">2013-01-27T09:14:16Z</dcterms:created>
  <dcterms:modified xsi:type="dcterms:W3CDTF">2026-07-26T10:04:33Z</dcterms:modified>
  <cp:category/>
</cp:coreProperties>
</file>